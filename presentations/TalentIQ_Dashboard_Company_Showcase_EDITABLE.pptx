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26" autoAdjust="0"/>
  </p:normalViewPr>
  <p:slideViewPr>
    <p:cSldViewPr snapToGrid="0">
      <p:cViewPr>
        <p:scale>
          <a:sx n="33" d="100"/>
          <a:sy n="33" d="100"/>
        </p:scale>
        <p:origin x="185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F52E0-A05E-4E57-BE24-A9D96C23A6C6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11419-EC95-44EB-B29E-F2BC0BAE5A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936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33B7F-7B75-C54E-00C6-938EAA49C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3178E-5C48-BB2E-821E-05E8CCAB7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848DA-8732-36B3-4B95-4195F107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C4AD6-D7B0-4DF4-BF1F-0E624DEB38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82D70-6439-F648-0840-669F477F1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F04F4-A809-547A-9F78-ECB4DCC27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F6BE-0038-41F4-B2A9-86C9381744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020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4D35F-099B-2F6F-79EA-5E9CC9876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22279-132B-B69F-E66F-985A1C5BB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BED3B-7C35-79B9-3296-4EA58493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C4AD6-D7B0-4DF4-BF1F-0E624DEB38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612DC-0F81-2916-CCBF-04BA65115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76302-F178-06EB-EC9E-B6755BF5F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F6BE-0038-41F4-B2A9-86C9381744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09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B99E-45F3-5F36-8F9A-4EFE1940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AC4E7-5522-B572-D048-B4CBE114F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02F09-5163-6E94-DEE0-686FDE225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C4AD6-D7B0-4DF4-BF1F-0E624DEB38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C930B-EBBB-7A94-816A-B0EED513A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7AD62-94CC-D218-2775-EDA09AC89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F6BE-0038-41F4-B2A9-86C9381744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609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280A3-394B-7BCC-F307-F3378BAD7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6A174-7A21-B85B-0674-3A695D6C5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D7D0F-ECDD-5AA4-753D-75F3A1EC6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BA139-4F20-81D9-999E-DC00B7AEA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C4AD6-D7B0-4DF4-BF1F-0E624DEB38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34ABE-5AA3-6C66-D4EF-F0EA9861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F2640-8403-09CB-0E8F-7AA920451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F6BE-0038-41F4-B2A9-86C9381744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808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41E32-47B6-0D8A-A34A-2A636D688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0AC54-E05D-7294-F22C-51B72ECAB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6D7F3-70D6-510B-7E45-50C2533B4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DCB19-8165-3B83-EADC-7DC8C0D3A5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86FE62-F0A0-27B9-335D-42453CEFFC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70811-16EF-B43A-6F54-D97E76B15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C4AD6-D7B0-4DF4-BF1F-0E624DEB38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AF5D9-F63B-FEC3-220A-3FCB045E0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CF40DF-F9FE-4D31-8F89-C841FCD52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F6BE-0038-41F4-B2A9-86C9381744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06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629C3-2D84-E81A-DEF0-4ECF00DF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BFF66E-0C60-2D95-F79B-E3B41B528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C4AD6-D7B0-4DF4-BF1F-0E624DEB38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F4487-E3FF-0DC4-04E5-65175E17F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54FFFC-7CC0-9AF5-363E-06072B65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F6BE-0038-41F4-B2A9-86C9381744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1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D0035F-F37F-C203-32B5-3BCCDE05D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C4AD6-D7B0-4DF4-BF1F-0E624DEB38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3E839-548E-C851-E9EA-488BECBD5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41C83-CD1D-2D0E-404C-2E9383BAE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F6BE-0038-41F4-B2A9-86C9381744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051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B25F0-94A2-2EF7-BB7D-B9DB15BC8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36811-3172-36F6-D69D-C517BD36C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AFD41-FED1-40B3-3DA9-07077A97D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15D4A-F97D-335C-9C4A-6A64D0527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C4AD6-D7B0-4DF4-BF1F-0E624DEB38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364A5-BAF0-BC62-DBAC-13E5CAAB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46AE7-5087-AFFD-8FD1-ECA0E8410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F6BE-0038-41F4-B2A9-86C9381744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441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AEED-4835-2570-9E7C-C9F10050D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F9AC3E-7AFB-3FC1-D3E5-0F6CF3B167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53319-37B0-F124-28BC-9A4875615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B4C59-D3FE-82F8-5648-6505C624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C4AD6-D7B0-4DF4-BF1F-0E624DEB38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E4249-15CB-9510-B63B-8D9F8575C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D4195-CDC5-889D-A913-AA4630306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F6BE-0038-41F4-B2A9-86C9381744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713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30EF7-E8BB-EB33-D7F9-BE353D8BB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541451-F765-6B32-35C1-E10F99484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DE27B-0D1A-921C-C11A-AFE8DE7B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C4AD6-D7B0-4DF4-BF1F-0E624DEB38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470EF-78A3-7417-BC67-5BD047538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77F58-9450-9A07-0D02-334831706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F6BE-0038-41F4-B2A9-86C9381744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776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B63697-0F5F-4C62-2DCA-83DDE093CF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77867A-B3A4-7847-F02D-964D6BF25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D2089-5258-4B5B-1BC4-3D0A2ED43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C4AD6-D7B0-4DF4-BF1F-0E624DEB38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C708D-20FE-A7B9-25EE-A2E775A7B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DE8F4-16F2-F0DC-F765-F15B75C3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F6BE-0038-41F4-B2A9-86C9381744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5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070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D32BE5-554D-D236-6D98-07F59C13B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DEE9C-5FEA-7B51-BA02-A29978B5F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0921C-DF37-8816-0306-B84692A055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BC4AD6-D7B0-4DF4-BF1F-0E624DEB38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84649-4452-BC3C-3201-A511F80AB4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F60F6-C566-36D8-45D8-FBC40D538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7F6BE-0038-41F4-B2A9-86C9381744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30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blue_navy_digital_abstract_backgrou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" y="0"/>
            <a:ext cx="7176977" cy="6858000"/>
          </a:xfrm>
          <a:prstGeom prst="rect">
            <a:avLst/>
          </a:prstGeom>
          <a:solidFill>
            <a:srgbClr val="06122B">
              <a:alpha val="92000"/>
            </a:srgbClr>
          </a:solidFill>
          <a:ln w="12700">
            <a:solidFill>
              <a:srgbClr val="0612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640080" y="603504"/>
            <a:ext cx="868680" cy="36576"/>
          </a:xfrm>
          <a:prstGeom prst="rect">
            <a:avLst/>
          </a:prstGeom>
          <a:solidFill>
            <a:srgbClr val="59D6FF"/>
          </a:solidFill>
          <a:ln w="12700">
            <a:solidFill>
              <a:srgbClr val="59D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1572768" y="603504"/>
            <a:ext cx="301752" cy="36576"/>
          </a:xfrm>
          <a:prstGeom prst="rect">
            <a:avLst/>
          </a:prstGeom>
          <a:solidFill>
            <a:srgbClr val="9B7CFF"/>
          </a:solidFill>
          <a:ln w="12700">
            <a:solidFill>
              <a:srgbClr val="9B7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0080" y="768096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b="1" dirty="0">
                <a:solidFill>
                  <a:srgbClr val="A9D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EVP REVIEW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1792" y="1481328"/>
            <a:ext cx="5440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TalentIQ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658368" y="2267712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58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Employee360 Intelligence Hub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58368" y="2889504"/>
            <a:ext cx="5349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dashboard for staffing demand, bench supply, skill fit, and operational follow-through.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58368" y="3950208"/>
            <a:ext cx="4206240" cy="20117"/>
          </a:xfrm>
          <a:prstGeom prst="rect">
            <a:avLst/>
          </a:prstGeom>
          <a:solidFill>
            <a:srgbClr val="58D9FF">
              <a:alpha val="82000"/>
            </a:srgbClr>
          </a:solidFill>
          <a:ln w="12700">
            <a:solidFill>
              <a:srgbClr val="58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76656" y="4215384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Recruitment intelligence </a:t>
            </a:r>
            <a:r>
              <a:rPr lang="en-US" sz="1820" b="1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bench-to-demand matching</a:t>
            </a:r>
            <a:r>
              <a:rPr lang="en-US" sz="182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for delivery teams.</a:t>
            </a:r>
            <a:endParaRPr lang="en-US" sz="1820" dirty="0"/>
          </a:p>
        </p:txBody>
      </p:sp>
      <p:sp>
        <p:nvSpPr>
          <p:cNvPr id="12" name="Text 9"/>
          <p:cNvSpPr/>
          <p:nvPr/>
        </p:nvSpPr>
        <p:spPr>
          <a:xfrm>
            <a:off x="676656" y="47731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70" dirty="0">
                <a:solidFill>
                  <a:srgbClr val="BCD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company leaders, Talent Acquisition, Delivery, Resource Management, and account teams.</a:t>
            </a:r>
            <a:endParaRPr lang="en-US" sz="1570" dirty="0"/>
          </a:p>
        </p:txBody>
      </p:sp>
      <p:sp>
        <p:nvSpPr>
          <p:cNvPr id="13" name="Shape 10"/>
          <p:cNvSpPr/>
          <p:nvPr/>
        </p:nvSpPr>
        <p:spPr>
          <a:xfrm>
            <a:off x="658368" y="5650992"/>
            <a:ext cx="4187952" cy="438912"/>
          </a:xfrm>
          <a:prstGeom prst="roundRect">
            <a:avLst>
              <a:gd name="adj" fmla="val 12500"/>
            </a:avLst>
          </a:prstGeom>
          <a:solidFill>
            <a:srgbClr val="0D2B52">
              <a:alpha val="94000"/>
            </a:srgbClr>
          </a:solidFill>
          <a:ln w="9525">
            <a:solidFill>
              <a:srgbClr val="2E9FE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074420" y="5783580"/>
            <a:ext cx="3767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E8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visibility  →  skill fit  →  deployment action</a:t>
            </a:r>
            <a:endParaRPr lang="en-US" sz="11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FED7FF-60BD-6951-4958-6DDFE9F8B4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B2395B-ED87-FFE2-2C04-416CB89FFA6B}"/>
              </a:ext>
            </a:extLst>
          </p:cNvPr>
          <p:cNvSpPr txBox="1"/>
          <p:nvPr/>
        </p:nvSpPr>
        <p:spPr>
          <a:xfrm>
            <a:off x="533400" y="695446"/>
            <a:ext cx="7188200" cy="78996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400" b="1" dirty="0">
                <a:solidFill>
                  <a:srgbClr val="0F172A"/>
                </a:solidFill>
                <a:latin typeface="Aptos" panose="020B0004020202020204" pitchFamily="34" charset="0"/>
              </a:rPr>
              <a:t>The company problem: demand and supply move faster than spreadsheets</a:t>
            </a:r>
            <a:endParaRPr lang="en-IN" sz="2400" b="1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68EEA5-1E3C-C9BB-5ED5-04DF19D5D180}"/>
              </a:ext>
            </a:extLst>
          </p:cNvPr>
          <p:cNvSpPr txBox="1"/>
          <p:nvPr/>
        </p:nvSpPr>
        <p:spPr>
          <a:xfrm>
            <a:off x="533400" y="6161901"/>
            <a:ext cx="8255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i="1" dirty="0">
                <a:solidFill>
                  <a:srgbClr val="64748B"/>
                </a:solidFill>
                <a:latin typeface="Aptos" panose="020B0004020202020204" pitchFamily="34" charset="0"/>
              </a:rPr>
              <a:t>Talent IQ</a:t>
            </a:r>
            <a:r>
              <a:rPr lang="en-US" sz="1000" dirty="0">
                <a:solidFill>
                  <a:srgbClr val="64748B"/>
                </a:solidFill>
                <a:latin typeface="Aptos" panose="020B0004020202020204" pitchFamily="34" charset="0"/>
              </a:rPr>
              <a:t> turns weekly operational data into a shared staffing cockpit.</a:t>
            </a:r>
            <a:endParaRPr lang="en-IN" sz="1000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111EE3C-DE23-F36B-1A0D-96850F33EF19}"/>
              </a:ext>
            </a:extLst>
          </p:cNvPr>
          <p:cNvGrpSpPr/>
          <p:nvPr/>
        </p:nvGrpSpPr>
        <p:grpSpPr>
          <a:xfrm>
            <a:off x="808990" y="2481685"/>
            <a:ext cx="3238500" cy="1341967"/>
            <a:chOff x="698500" y="1714500"/>
            <a:chExt cx="3238500" cy="13419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A86A537-D5F2-51C8-5489-F654EC80A825}"/>
                </a:ext>
              </a:extLst>
            </p:cNvPr>
            <p:cNvSpPr/>
            <p:nvPr/>
          </p:nvSpPr>
          <p:spPr>
            <a:xfrm>
              <a:off x="698500" y="1714500"/>
              <a:ext cx="3238500" cy="13419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4CFAEC-5A18-E9D9-87AD-AEAB4657DA43}"/>
                </a:ext>
              </a:extLst>
            </p:cNvPr>
            <p:cNvSpPr txBox="1"/>
            <p:nvPr/>
          </p:nvSpPr>
          <p:spPr>
            <a:xfrm>
              <a:off x="876300" y="1866900"/>
              <a:ext cx="2882900" cy="266740"/>
            </a:xfrm>
            <a:prstGeom prst="rect">
              <a:avLst/>
            </a:prstGeom>
            <a:noFill/>
          </p:spPr>
          <p:txBody>
            <a:bodyPr vert="horz" wrap="square" lIns="25400" tIns="25400" rIns="25400" bIns="25400" rtlCol="0">
              <a:spAutoFit/>
            </a:bodyPr>
            <a:lstStyle/>
            <a:p>
              <a:r>
                <a:rPr lang="en-IN" sz="1400" b="1">
                  <a:solidFill>
                    <a:srgbClr val="0F172A"/>
                  </a:solidFill>
                  <a:latin typeface="Aptos" panose="020B0004020202020204" pitchFamily="34" charset="0"/>
                </a:rPr>
                <a:t>Fragmented inputs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1F16F6-432F-FB7D-2D35-B9FD89E9777F}"/>
                </a:ext>
              </a:extLst>
            </p:cNvPr>
            <p:cNvSpPr txBox="1"/>
            <p:nvPr/>
          </p:nvSpPr>
          <p:spPr>
            <a:xfrm>
              <a:off x="876300" y="2286000"/>
              <a:ext cx="2882900" cy="666849"/>
            </a:xfrm>
            <a:prstGeom prst="rect">
              <a:avLst/>
            </a:prstGeom>
            <a:noFill/>
          </p:spPr>
          <p:txBody>
            <a:bodyPr vert="horz" wrap="square" lIns="25400" tIns="25400" rIns="25400" bIns="25400" rtlCol="0">
              <a:spAutoFit/>
            </a:bodyPr>
            <a:lstStyle/>
            <a:p>
              <a:r>
                <a:rPr lang="en-US" sz="1000">
                  <a:solidFill>
                    <a:srgbClr val="475569"/>
                  </a:solidFill>
                  <a:latin typeface="Aptos" panose="020B0004020202020204" pitchFamily="34" charset="0"/>
                </a:rPr>
                <a:t>- TA requisitions, MSD allocations, and bench IDs live in separate files.</a:t>
              </a:r>
            </a:p>
            <a:p>
              <a:r>
                <a:rPr lang="en-US" sz="1000">
                  <a:solidFill>
                    <a:srgbClr val="475569"/>
                  </a:solidFill>
                  <a:latin typeface="Aptos" panose="020B0004020202020204" pitchFamily="34" charset="0"/>
                </a:rPr>
                <a:t>- Leaders spend time reconciling rather than deciding.</a:t>
              </a:r>
              <a:endParaRPr lang="en-IN" sz="1000">
                <a:solidFill>
                  <a:srgbClr val="475569"/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894B30B-A02E-EA9F-704B-432732CEB08A}"/>
              </a:ext>
            </a:extLst>
          </p:cNvPr>
          <p:cNvGrpSpPr/>
          <p:nvPr/>
        </p:nvGrpSpPr>
        <p:grpSpPr>
          <a:xfrm>
            <a:off x="4517390" y="2481686"/>
            <a:ext cx="3238500" cy="1341967"/>
            <a:chOff x="4470400" y="1714500"/>
            <a:chExt cx="3238500" cy="134196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C8D79F0-5967-00E5-C313-B52FD69BF916}"/>
                </a:ext>
              </a:extLst>
            </p:cNvPr>
            <p:cNvSpPr/>
            <p:nvPr/>
          </p:nvSpPr>
          <p:spPr>
            <a:xfrm>
              <a:off x="4470400" y="1714500"/>
              <a:ext cx="3238500" cy="13419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467F656-0AFE-6350-C1BD-6B2F71D8026F}"/>
                </a:ext>
              </a:extLst>
            </p:cNvPr>
            <p:cNvSpPr txBox="1"/>
            <p:nvPr/>
          </p:nvSpPr>
          <p:spPr>
            <a:xfrm>
              <a:off x="4648200" y="1866900"/>
              <a:ext cx="2882900" cy="266740"/>
            </a:xfrm>
            <a:prstGeom prst="rect">
              <a:avLst/>
            </a:prstGeom>
            <a:noFill/>
          </p:spPr>
          <p:txBody>
            <a:bodyPr vert="horz" wrap="square" lIns="25400" tIns="25400" rIns="25400" bIns="25400" rtlCol="0">
              <a:spAutoFit/>
            </a:bodyPr>
            <a:lstStyle/>
            <a:p>
              <a:r>
                <a:rPr lang="en-IN" sz="1400" b="1" dirty="0">
                  <a:solidFill>
                    <a:srgbClr val="0F172A"/>
                  </a:solidFill>
                  <a:latin typeface="Aptos" panose="020B0004020202020204" pitchFamily="34" charset="0"/>
                </a:rPr>
                <a:t>Hidden demand risk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B9EA116-9781-CF90-8943-D2B8D223EEAE}"/>
                </a:ext>
              </a:extLst>
            </p:cNvPr>
            <p:cNvSpPr txBox="1"/>
            <p:nvPr/>
          </p:nvSpPr>
          <p:spPr>
            <a:xfrm>
              <a:off x="4648200" y="2286000"/>
              <a:ext cx="2882900" cy="512961"/>
            </a:xfrm>
            <a:prstGeom prst="rect">
              <a:avLst/>
            </a:prstGeom>
            <a:noFill/>
          </p:spPr>
          <p:txBody>
            <a:bodyPr vert="horz" wrap="square" lIns="25400" tIns="25400" rIns="25400" bIns="25400" rtlCol="0">
              <a:spAutoFit/>
            </a:bodyPr>
            <a:lstStyle/>
            <a:p>
              <a:r>
                <a:rPr lang="en-US" sz="1000">
                  <a:solidFill>
                    <a:srgbClr val="475569"/>
                  </a:solidFill>
                  <a:latin typeface="Aptos" panose="020B0004020202020204" pitchFamily="34" charset="0"/>
                </a:rPr>
                <a:t>- Aging openings, shore split, and client concentration are hard to read quickly.</a:t>
              </a:r>
            </a:p>
            <a:p>
              <a:r>
                <a:rPr lang="en-US" sz="1000">
                  <a:solidFill>
                    <a:srgbClr val="475569"/>
                  </a:solidFill>
                  <a:latin typeface="Aptos" panose="020B0004020202020204" pitchFamily="34" charset="0"/>
                </a:rPr>
                <a:t>- Leakage and delayed starts need earlier visibility.</a:t>
              </a:r>
              <a:endParaRPr lang="en-IN" sz="1000">
                <a:solidFill>
                  <a:srgbClr val="475569"/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366595E-8D0F-A6E2-EDD5-24B7D2B54D69}"/>
              </a:ext>
            </a:extLst>
          </p:cNvPr>
          <p:cNvGrpSpPr/>
          <p:nvPr/>
        </p:nvGrpSpPr>
        <p:grpSpPr>
          <a:xfrm>
            <a:off x="8213090" y="2481686"/>
            <a:ext cx="3238500" cy="1341967"/>
            <a:chOff x="8242300" y="1714500"/>
            <a:chExt cx="3238500" cy="13419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7119628-E2FC-B5D3-DD44-CD427B9978DE}"/>
                </a:ext>
              </a:extLst>
            </p:cNvPr>
            <p:cNvSpPr/>
            <p:nvPr/>
          </p:nvSpPr>
          <p:spPr>
            <a:xfrm>
              <a:off x="8242300" y="1714500"/>
              <a:ext cx="3238500" cy="13419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8A335F8-F44B-F573-8D8E-506188158A9B}"/>
                </a:ext>
              </a:extLst>
            </p:cNvPr>
            <p:cNvSpPr txBox="1"/>
            <p:nvPr/>
          </p:nvSpPr>
          <p:spPr>
            <a:xfrm>
              <a:off x="8420100" y="1866900"/>
              <a:ext cx="2882900" cy="266740"/>
            </a:xfrm>
            <a:prstGeom prst="rect">
              <a:avLst/>
            </a:prstGeom>
            <a:noFill/>
          </p:spPr>
          <p:txBody>
            <a:bodyPr vert="horz" wrap="square" lIns="25400" tIns="25400" rIns="25400" bIns="25400" rtlCol="0">
              <a:spAutoFit/>
            </a:bodyPr>
            <a:lstStyle/>
            <a:p>
              <a:r>
                <a:rPr lang="en-IN" sz="1400" b="1" dirty="0">
                  <a:solidFill>
                    <a:srgbClr val="0F172A"/>
                  </a:solidFill>
                  <a:latin typeface="Aptos" panose="020B0004020202020204" pitchFamily="34" charset="0"/>
                </a:rPr>
                <a:t>Slow resource matching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3EC9AD-5631-72E3-1E98-7FE829E2C072}"/>
                </a:ext>
              </a:extLst>
            </p:cNvPr>
            <p:cNvSpPr txBox="1"/>
            <p:nvPr/>
          </p:nvSpPr>
          <p:spPr>
            <a:xfrm>
              <a:off x="8420100" y="2286000"/>
              <a:ext cx="2882900" cy="666849"/>
            </a:xfrm>
            <a:prstGeom prst="rect">
              <a:avLst/>
            </a:prstGeom>
            <a:noFill/>
          </p:spPr>
          <p:txBody>
            <a:bodyPr vert="horz" wrap="square" lIns="25400" tIns="25400" rIns="25400" bIns="25400" rtlCol="0">
              <a:spAutoFit/>
            </a:bodyPr>
            <a:lstStyle/>
            <a:p>
              <a:r>
                <a:rPr lang="en-US" sz="1000">
                  <a:solidFill>
                    <a:srgbClr val="475569"/>
                  </a:solidFill>
                  <a:latin typeface="Aptos" panose="020B0004020202020204" pitchFamily="34" charset="0"/>
                </a:rPr>
                <a:t>- Skill, grade, shore, tenure, and project history are matched manually.</a:t>
              </a:r>
            </a:p>
            <a:p>
              <a:r>
                <a:rPr lang="en-US" sz="1000">
                  <a:solidFill>
                    <a:srgbClr val="475569"/>
                  </a:solidFill>
                  <a:latin typeface="Aptos" panose="020B0004020202020204" pitchFamily="34" charset="0"/>
                </a:rPr>
                <a:t>- Good internal candidates can be missed while new hiring continues.</a:t>
              </a:r>
              <a:endParaRPr lang="en-IN" sz="1000">
                <a:solidFill>
                  <a:srgbClr val="475569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6276A36-E69B-B19B-A9AC-4E6327832455}"/>
              </a:ext>
            </a:extLst>
          </p:cNvPr>
          <p:cNvSpPr/>
          <p:nvPr/>
        </p:nvSpPr>
        <p:spPr>
          <a:xfrm>
            <a:off x="1049020" y="4309533"/>
            <a:ext cx="9969500" cy="101840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600" b="1" i="1" dirty="0" err="1">
                <a:solidFill>
                  <a:srgbClr val="0F766E"/>
                </a:solidFill>
                <a:latin typeface="Aptos" panose="020B0004020202020204" pitchFamily="34" charset="0"/>
              </a:rPr>
              <a:t>TalentIQ</a:t>
            </a:r>
            <a:r>
              <a:rPr lang="en-US" sz="1600" b="1" dirty="0">
                <a:solidFill>
                  <a:srgbClr val="0F766E"/>
                </a:solidFill>
                <a:latin typeface="Aptos" panose="020B0004020202020204" pitchFamily="34" charset="0"/>
              </a:rPr>
              <a:t> provides the operating layer between recruiting demand and available delivery capacity.</a:t>
            </a:r>
            <a:endParaRPr lang="en-IN" sz="1600" b="1" dirty="0">
              <a:solidFill>
                <a:srgbClr val="0F766E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9F30A4-B285-294A-F283-BB87ABCD550D}"/>
              </a:ext>
            </a:extLst>
          </p:cNvPr>
          <p:cNvSpPr/>
          <p:nvPr/>
        </p:nvSpPr>
        <p:spPr>
          <a:xfrm>
            <a:off x="533400" y="6426200"/>
            <a:ext cx="111125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A3D822-263B-3C2E-D878-DCB1ABB6D0A9}"/>
              </a:ext>
            </a:extLst>
          </p:cNvPr>
          <p:cNvSpPr txBox="1"/>
          <p:nvPr/>
        </p:nvSpPr>
        <p:spPr>
          <a:xfrm>
            <a:off x="10922000" y="6477000"/>
            <a:ext cx="6985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23305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F4B291-32FC-9E60-08A1-B4628872A9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40979D-9B80-4A79-485A-F0CE352F4D21}"/>
              </a:ext>
            </a:extLst>
          </p:cNvPr>
          <p:cNvSpPr txBox="1"/>
          <p:nvPr/>
        </p:nvSpPr>
        <p:spPr>
          <a:xfrm>
            <a:off x="533400" y="304800"/>
            <a:ext cx="3048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 b="1">
                <a:solidFill>
                  <a:srgbClr val="0F766E"/>
                </a:solidFill>
                <a:latin typeface="Aptos" panose="020B0004020202020204" pitchFamily="34" charset="0"/>
              </a:rPr>
              <a:t>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21517D-8C80-E8D9-DA3E-887AF02ABF6B}"/>
              </a:ext>
            </a:extLst>
          </p:cNvPr>
          <p:cNvSpPr txBox="1"/>
          <p:nvPr/>
        </p:nvSpPr>
        <p:spPr>
          <a:xfrm>
            <a:off x="533400" y="571500"/>
            <a:ext cx="8255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Aptos" panose="020B0004020202020204" pitchFamily="34" charset="0"/>
              </a:rPr>
              <a:t>Executive view of recruiting health</a:t>
            </a:r>
            <a:endParaRPr lang="en-IN" sz="24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7AF635-E6A7-A28D-A56F-0574852FE6DC}"/>
              </a:ext>
            </a:extLst>
          </p:cNvPr>
          <p:cNvSpPr txBox="1"/>
          <p:nvPr/>
        </p:nvSpPr>
        <p:spPr>
          <a:xfrm>
            <a:off x="558800" y="1041400"/>
            <a:ext cx="8255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dirty="0">
                <a:solidFill>
                  <a:srgbClr val="64748B"/>
                </a:solidFill>
                <a:latin typeface="Aptos" panose="020B0004020202020204" pitchFamily="34" charset="0"/>
              </a:rPr>
              <a:t>Latest snapshots become KPIs, aging signals, client demand, and shore split.</a:t>
            </a:r>
            <a:endParaRPr lang="en-IN" sz="1000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2043E03-CE24-185B-A130-7D3BB1095C10}"/>
              </a:ext>
            </a:extLst>
          </p:cNvPr>
          <p:cNvSpPr/>
          <p:nvPr/>
        </p:nvSpPr>
        <p:spPr>
          <a:xfrm>
            <a:off x="5829300" y="5225760"/>
            <a:ext cx="544195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100" b="1" dirty="0">
                <a:solidFill>
                  <a:srgbClr val="334155"/>
                </a:solidFill>
                <a:latin typeface="Aptos" panose="020B0004020202020204" pitchFamily="34" charset="0"/>
              </a:rPr>
              <a:t>Open split: Offshore 31 / Onshore 41 | Offered split: Offshore 8 / Onshore 9</a:t>
            </a:r>
            <a:endParaRPr lang="en-IN" sz="1100" b="1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E424134-57CD-A35D-12DB-7E2BF5B2E7C1}"/>
              </a:ext>
            </a:extLst>
          </p:cNvPr>
          <p:cNvSpPr/>
          <p:nvPr/>
        </p:nvSpPr>
        <p:spPr>
          <a:xfrm>
            <a:off x="533400" y="6426200"/>
            <a:ext cx="111125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C5F83AC-967F-7C87-213E-B4C5507E56A2}"/>
              </a:ext>
            </a:extLst>
          </p:cNvPr>
          <p:cNvSpPr txBox="1"/>
          <p:nvPr/>
        </p:nvSpPr>
        <p:spPr>
          <a:xfrm>
            <a:off x="533400" y="6477000"/>
            <a:ext cx="292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TalentIQ dashboard showcase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9C5074-3BD2-6825-03D0-DFD6EAD62506}"/>
              </a:ext>
            </a:extLst>
          </p:cNvPr>
          <p:cNvSpPr txBox="1"/>
          <p:nvPr/>
        </p:nvSpPr>
        <p:spPr>
          <a:xfrm>
            <a:off x="10922000" y="6477000"/>
            <a:ext cx="6985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3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9473BB47-8BA2-47B7-D61F-BA8467A41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99" y="1487822"/>
            <a:ext cx="10557152" cy="1631843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07707E1-2EEF-0C00-3C2D-5F02EE7CC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97" y="3200338"/>
            <a:ext cx="5022727" cy="2635021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1BD1488F-185A-619C-B100-78BDF860E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1" y="3181036"/>
            <a:ext cx="1673914" cy="199018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8289F876-1695-9C59-89E0-69CED03669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5692" y="3197480"/>
            <a:ext cx="1823311" cy="199018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833DB68-8F28-082E-9541-37748C5CDF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8595" y="3181036"/>
            <a:ext cx="1782655" cy="195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42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020554-879E-6AAF-D23D-00BE9A64A7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2F92C0-0EA7-A6D0-C7A1-5F1510731928}"/>
              </a:ext>
            </a:extLst>
          </p:cNvPr>
          <p:cNvSpPr txBox="1"/>
          <p:nvPr/>
        </p:nvSpPr>
        <p:spPr>
          <a:xfrm>
            <a:off x="533400" y="304800"/>
            <a:ext cx="3048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 b="1">
                <a:solidFill>
                  <a:srgbClr val="0F766E"/>
                </a:solidFill>
                <a:latin typeface="Aptos" panose="020B0004020202020204" pitchFamily="34" charset="0"/>
              </a:rPr>
              <a:t>DATA GOVERNANCE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107547-D45B-6709-7C69-858A3B12EAFD}"/>
              </a:ext>
            </a:extLst>
          </p:cNvPr>
          <p:cNvSpPr txBox="1"/>
          <p:nvPr/>
        </p:nvSpPr>
        <p:spPr>
          <a:xfrm>
            <a:off x="533400" y="571500"/>
            <a:ext cx="8255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Aptos" panose="020B0004020202020204" pitchFamily="34" charset="0"/>
              </a:rPr>
              <a:t>Controlled weekly intake keeps the dashboard credible</a:t>
            </a:r>
            <a:endParaRPr lang="en-IN" sz="24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F06DF-8E5E-0CCF-1E1A-93701C83B3AC}"/>
              </a:ext>
            </a:extLst>
          </p:cNvPr>
          <p:cNvSpPr txBox="1"/>
          <p:nvPr/>
        </p:nvSpPr>
        <p:spPr>
          <a:xfrm>
            <a:off x="558800" y="1041400"/>
            <a:ext cx="8255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Uploads are period-tagged; history is preserved while the UI reads the latest snapshot.</a:t>
            </a:r>
            <a:endParaRPr lang="en-IN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99D41-2DA6-F31E-6862-CBB59C8F2A72}"/>
              </a:ext>
            </a:extLst>
          </p:cNvPr>
          <p:cNvSpPr txBox="1"/>
          <p:nvPr/>
        </p:nvSpPr>
        <p:spPr>
          <a:xfrm>
            <a:off x="10033000" y="431800"/>
            <a:ext cx="15875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1600" b="1">
                <a:solidFill>
                  <a:srgbClr val="0F766E"/>
                </a:solidFill>
                <a:latin typeface="Aptos" panose="020B0004020202020204" pitchFamily="34" charset="0"/>
              </a:rPr>
              <a:t>TalentIQ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45E53E-C8FA-BBC3-8265-29F50F215072}"/>
              </a:ext>
            </a:extLst>
          </p:cNvPr>
          <p:cNvSpPr/>
          <p:nvPr/>
        </p:nvSpPr>
        <p:spPr>
          <a:xfrm>
            <a:off x="787400" y="1676400"/>
            <a:ext cx="1968500" cy="787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1E293B"/>
                </a:solidFill>
                <a:latin typeface="Aptos" panose="020B0004020202020204" pitchFamily="34" charset="0"/>
              </a:rPr>
              <a:t>TA data</a:t>
            </a:r>
          </a:p>
          <a:p>
            <a:pPr algn="ctr"/>
            <a:r>
              <a:rPr lang="en-IN" sz="1200" b="1">
                <a:solidFill>
                  <a:srgbClr val="1E293B"/>
                </a:solidFill>
                <a:latin typeface="Aptos" panose="020B0004020202020204" pitchFamily="34" charset="0"/>
              </a:rPr>
              <a:t>exact date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0D68E7-2BB3-99DA-B475-4F2316AF90EA}"/>
              </a:ext>
            </a:extLst>
          </p:cNvPr>
          <p:cNvSpPr/>
          <p:nvPr/>
        </p:nvSpPr>
        <p:spPr>
          <a:xfrm>
            <a:off x="3175000" y="1676400"/>
            <a:ext cx="1968500" cy="7874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1E293B"/>
                </a:solidFill>
                <a:latin typeface="Aptos" panose="020B0004020202020204" pitchFamily="34" charset="0"/>
              </a:rPr>
              <a:t>MSD allocation</a:t>
            </a:r>
          </a:p>
          <a:p>
            <a:pPr algn="ctr"/>
            <a:r>
              <a:rPr lang="en-IN" sz="1200" b="1">
                <a:solidFill>
                  <a:srgbClr val="1E293B"/>
                </a:solidFill>
                <a:latin typeface="Aptos" panose="020B0004020202020204" pitchFamily="34" charset="0"/>
              </a:rPr>
              <a:t>month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7C2757-7AC4-33C8-3E21-58A21F91E233}"/>
              </a:ext>
            </a:extLst>
          </p:cNvPr>
          <p:cNvSpPr/>
          <p:nvPr/>
        </p:nvSpPr>
        <p:spPr>
          <a:xfrm>
            <a:off x="5562600" y="1676400"/>
            <a:ext cx="1968500" cy="787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1E293B"/>
                </a:solidFill>
                <a:latin typeface="Aptos" panose="020B0004020202020204" pitchFamily="34" charset="0"/>
              </a:rPr>
              <a:t>Bench IDs</a:t>
            </a:r>
          </a:p>
          <a:p>
            <a:pPr algn="ctr"/>
            <a:r>
              <a:rPr lang="en-IN" sz="1200" b="1">
                <a:solidFill>
                  <a:srgbClr val="1E293B"/>
                </a:solidFill>
                <a:latin typeface="Aptos" panose="020B0004020202020204" pitchFamily="34" charset="0"/>
              </a:rPr>
              <a:t>ISO week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4E496D4-C419-6328-42CA-EFEE7F6F414B}"/>
              </a:ext>
            </a:extLst>
          </p:cNvPr>
          <p:cNvSpPr/>
          <p:nvPr/>
        </p:nvSpPr>
        <p:spPr>
          <a:xfrm>
            <a:off x="7950200" y="1676400"/>
            <a:ext cx="1968500" cy="787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1E293B"/>
                </a:solidFill>
                <a:latin typeface="Aptos" panose="020B0004020202020204" pitchFamily="34" charset="0"/>
              </a:rPr>
              <a:t>PostgreSQL</a:t>
            </a:r>
          </a:p>
          <a:p>
            <a:pPr algn="ctr"/>
            <a:r>
              <a:rPr lang="en-IN" sz="1200" b="1">
                <a:solidFill>
                  <a:srgbClr val="1E293B"/>
                </a:solidFill>
                <a:latin typeface="Aptos" panose="020B0004020202020204" pitchFamily="34" charset="0"/>
              </a:rPr>
              <a:t>snapshots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774ED85-BA91-E9F0-B199-9256B6232154}"/>
              </a:ext>
            </a:extLst>
          </p:cNvPr>
          <p:cNvSpPr/>
          <p:nvPr/>
        </p:nvSpPr>
        <p:spPr>
          <a:xfrm>
            <a:off x="838200" y="3149600"/>
            <a:ext cx="4826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1FBAFC-D8D1-CE46-17D6-8846A8F9222C}"/>
              </a:ext>
            </a:extLst>
          </p:cNvPr>
          <p:cNvSpPr txBox="1"/>
          <p:nvPr/>
        </p:nvSpPr>
        <p:spPr>
          <a:xfrm>
            <a:off x="1016000" y="3302000"/>
            <a:ext cx="4470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Guardrails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C580C1-4819-7BCC-0C3A-DB63BA7B23EE}"/>
              </a:ext>
            </a:extLst>
          </p:cNvPr>
          <p:cNvSpPr txBox="1"/>
          <p:nvPr/>
        </p:nvSpPr>
        <p:spPr>
          <a:xfrm>
            <a:off x="1016000" y="3721100"/>
            <a:ext cx="44704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Duplicate-period checks prevent accidental overwrite.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Replace flow is explicit when a period already exists.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Upload modal shows already-loaded periods before submission.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1BDF39-27A7-3285-AA4A-FE606607B607}"/>
              </a:ext>
            </a:extLst>
          </p:cNvPr>
          <p:cNvSpPr/>
          <p:nvPr/>
        </p:nvSpPr>
        <p:spPr>
          <a:xfrm>
            <a:off x="6350000" y="3149600"/>
            <a:ext cx="4572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0D7FC1-4DEA-DACE-688C-F4F541EF19FF}"/>
              </a:ext>
            </a:extLst>
          </p:cNvPr>
          <p:cNvSpPr txBox="1"/>
          <p:nvPr/>
        </p:nvSpPr>
        <p:spPr>
          <a:xfrm>
            <a:off x="6527800" y="3302000"/>
            <a:ext cx="4216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Current local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123DA4-6D8E-B0A5-1B09-2053E6DB69A6}"/>
              </a:ext>
            </a:extLst>
          </p:cNvPr>
          <p:cNvSpPr txBox="1"/>
          <p:nvPr/>
        </p:nvSpPr>
        <p:spPr>
          <a:xfrm>
            <a:off x="6527800" y="3721100"/>
            <a:ext cx="42164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Stored requisition rows: 3595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Stored MSD allocation rows: 15269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Stored bench ID rows: 180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Installer creates tables and dependencies.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B458A0-BEE2-81F0-8AB5-81CE2697B26C}"/>
              </a:ext>
            </a:extLst>
          </p:cNvPr>
          <p:cNvSpPr/>
          <p:nvPr/>
        </p:nvSpPr>
        <p:spPr>
          <a:xfrm>
            <a:off x="533400" y="6426200"/>
            <a:ext cx="111125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1F4CBC-178C-5978-A566-3C10E8388846}"/>
              </a:ext>
            </a:extLst>
          </p:cNvPr>
          <p:cNvSpPr txBox="1"/>
          <p:nvPr/>
        </p:nvSpPr>
        <p:spPr>
          <a:xfrm>
            <a:off x="533400" y="6477000"/>
            <a:ext cx="292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TalentIQ dashboard showcase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D05B8A-3CB5-76EA-B31D-5481D54E8915}"/>
              </a:ext>
            </a:extLst>
          </p:cNvPr>
          <p:cNvSpPr txBox="1"/>
          <p:nvPr/>
        </p:nvSpPr>
        <p:spPr>
          <a:xfrm>
            <a:off x="10922000" y="6477000"/>
            <a:ext cx="6985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29639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B24039-DF2A-4C6A-9F7E-C9E3F5EB81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A3D05-877B-F656-498C-D6934AF969AA}"/>
              </a:ext>
            </a:extLst>
          </p:cNvPr>
          <p:cNvSpPr txBox="1"/>
          <p:nvPr/>
        </p:nvSpPr>
        <p:spPr>
          <a:xfrm>
            <a:off x="533400" y="304800"/>
            <a:ext cx="3048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 b="1">
                <a:solidFill>
                  <a:srgbClr val="0F766E"/>
                </a:solidFill>
                <a:latin typeface="Aptos" panose="020B0004020202020204" pitchFamily="34" charset="0"/>
              </a:rPr>
              <a:t>RECRUITMENT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E72E91-75B0-B23D-0A1C-5C8D009D1C26}"/>
              </a:ext>
            </a:extLst>
          </p:cNvPr>
          <p:cNvSpPr txBox="1"/>
          <p:nvPr/>
        </p:nvSpPr>
        <p:spPr>
          <a:xfrm>
            <a:off x="533400" y="571500"/>
            <a:ext cx="10468276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400" b="1" dirty="0">
                <a:solidFill>
                  <a:srgbClr val="0F172A"/>
                </a:solidFill>
                <a:latin typeface="Aptos" panose="020B0004020202020204" pitchFamily="34" charset="0"/>
              </a:rPr>
              <a:t>What the dashboard solves for Talent Acquisition and leadership</a:t>
            </a:r>
            <a:endParaRPr lang="en-IN" sz="2400" b="1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03037-00D8-C593-31A4-022FB0D22BC2}"/>
              </a:ext>
            </a:extLst>
          </p:cNvPr>
          <p:cNvSpPr txBox="1"/>
          <p:nvPr/>
        </p:nvSpPr>
        <p:spPr>
          <a:xfrm>
            <a:off x="533400" y="996494"/>
            <a:ext cx="8255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dirty="0">
                <a:solidFill>
                  <a:srgbClr val="64748B"/>
                </a:solidFill>
                <a:latin typeface="Aptos" panose="020B0004020202020204" pitchFamily="34" charset="0"/>
              </a:rPr>
              <a:t>The dashboard converts requisition records into operational signals for follow-up.</a:t>
            </a:r>
            <a:endParaRPr lang="en-IN" sz="1000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CD5EB7-0567-7AEC-B558-D18975ED9124}"/>
              </a:ext>
            </a:extLst>
          </p:cNvPr>
          <p:cNvSpPr/>
          <p:nvPr/>
        </p:nvSpPr>
        <p:spPr>
          <a:xfrm>
            <a:off x="736600" y="1587500"/>
            <a:ext cx="4826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9D5D51-3F67-7168-25FE-0CBAD6A7650E}"/>
              </a:ext>
            </a:extLst>
          </p:cNvPr>
          <p:cNvSpPr txBox="1"/>
          <p:nvPr/>
        </p:nvSpPr>
        <p:spPr>
          <a:xfrm>
            <a:off x="914400" y="1739900"/>
            <a:ext cx="4470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Open and Offered tracking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8C3FBC-9085-7652-E223-835BC5B67B96}"/>
              </a:ext>
            </a:extLst>
          </p:cNvPr>
          <p:cNvSpPr txBox="1"/>
          <p:nvPr/>
        </p:nvSpPr>
        <p:spPr>
          <a:xfrm>
            <a:off x="914400" y="2159000"/>
            <a:ext cx="44704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Measures active demand and offer-stage conversion by latest TA snapshot.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B7C634-6005-EC09-CBBC-A1D9366D29AC}"/>
              </a:ext>
            </a:extLst>
          </p:cNvPr>
          <p:cNvSpPr/>
          <p:nvPr/>
        </p:nvSpPr>
        <p:spPr>
          <a:xfrm>
            <a:off x="6604000" y="1587500"/>
            <a:ext cx="4826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D647B5-73E0-12DE-C371-460249663FF5}"/>
              </a:ext>
            </a:extLst>
          </p:cNvPr>
          <p:cNvSpPr txBox="1"/>
          <p:nvPr/>
        </p:nvSpPr>
        <p:spPr>
          <a:xfrm>
            <a:off x="6781800" y="1739900"/>
            <a:ext cx="4470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Aging management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DB9B5C-F608-88C1-289F-B3FC72FB15BD}"/>
              </a:ext>
            </a:extLst>
          </p:cNvPr>
          <p:cNvSpPr txBox="1"/>
          <p:nvPr/>
        </p:nvSpPr>
        <p:spPr>
          <a:xfrm>
            <a:off x="6781800" y="2159000"/>
            <a:ext cx="44704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Buckets requisitions into pre-approved, 1-30, 31-60, 61-90, and 91+ day risk bands.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E154669-5903-0FE0-9993-ECC9CCAF4C4B}"/>
              </a:ext>
            </a:extLst>
          </p:cNvPr>
          <p:cNvSpPr/>
          <p:nvPr/>
        </p:nvSpPr>
        <p:spPr>
          <a:xfrm>
            <a:off x="736600" y="3149600"/>
            <a:ext cx="4826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58FC3A-326F-B5DF-1342-73DDFF3BC7A7}"/>
              </a:ext>
            </a:extLst>
          </p:cNvPr>
          <p:cNvSpPr txBox="1"/>
          <p:nvPr/>
        </p:nvSpPr>
        <p:spPr>
          <a:xfrm>
            <a:off x="914400" y="3302000"/>
            <a:ext cx="4470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Client concentration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D32C12-9B5D-6918-7F77-CD37394196E4}"/>
              </a:ext>
            </a:extLst>
          </p:cNvPr>
          <p:cNvSpPr txBox="1"/>
          <p:nvPr/>
        </p:nvSpPr>
        <p:spPr>
          <a:xfrm>
            <a:off x="914400" y="3721100"/>
            <a:ext cx="44704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Shows which client accounts are driving demand and require staffing focus.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EBE3921-4110-6A76-359F-6A513AA68784}"/>
              </a:ext>
            </a:extLst>
          </p:cNvPr>
          <p:cNvSpPr/>
          <p:nvPr/>
        </p:nvSpPr>
        <p:spPr>
          <a:xfrm>
            <a:off x="6604000" y="3149600"/>
            <a:ext cx="4826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419D44-4DE5-2D06-6DB5-01DA24D3175F}"/>
              </a:ext>
            </a:extLst>
          </p:cNvPr>
          <p:cNvSpPr txBox="1"/>
          <p:nvPr/>
        </p:nvSpPr>
        <p:spPr>
          <a:xfrm>
            <a:off x="6781800" y="3302000"/>
            <a:ext cx="4470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Onshore/offshore split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1745BB-6386-F451-9C9A-2557DA87F4FF}"/>
              </a:ext>
            </a:extLst>
          </p:cNvPr>
          <p:cNvSpPr txBox="1"/>
          <p:nvPr/>
        </p:nvSpPr>
        <p:spPr>
          <a:xfrm>
            <a:off x="6781800" y="3721100"/>
            <a:ext cx="44704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Separates demand by location model so matching uses the right delivery pool.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F25BD9C-E787-F298-7122-245880020734}"/>
              </a:ext>
            </a:extLst>
          </p:cNvPr>
          <p:cNvSpPr/>
          <p:nvPr/>
        </p:nvSpPr>
        <p:spPr>
          <a:xfrm>
            <a:off x="736600" y="4711700"/>
            <a:ext cx="4826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B36F78-A637-CBE7-3FBB-1E5873A821A8}"/>
              </a:ext>
            </a:extLst>
          </p:cNvPr>
          <p:cNvSpPr txBox="1"/>
          <p:nvPr/>
        </p:nvSpPr>
        <p:spPr>
          <a:xfrm>
            <a:off x="914400" y="4864100"/>
            <a:ext cx="4470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Leakage visibility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08D444-FA65-4039-1112-3354DE9A2431}"/>
              </a:ext>
            </a:extLst>
          </p:cNvPr>
          <p:cNvSpPr txBox="1"/>
          <p:nvPr/>
        </p:nvSpPr>
        <p:spPr>
          <a:xfrm>
            <a:off x="914400" y="5283200"/>
            <a:ext cx="44704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Estimates revenue exposure from delayed fulfillment.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B9A526F-D1B3-74BC-84CD-3CA7985E9BD3}"/>
              </a:ext>
            </a:extLst>
          </p:cNvPr>
          <p:cNvSpPr/>
          <p:nvPr/>
        </p:nvSpPr>
        <p:spPr>
          <a:xfrm>
            <a:off x="6604000" y="4711700"/>
            <a:ext cx="4826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CAC566-5F0E-B51E-AEBA-2EC0C776F016}"/>
              </a:ext>
            </a:extLst>
          </p:cNvPr>
          <p:cNvSpPr txBox="1"/>
          <p:nvPr/>
        </p:nvSpPr>
        <p:spPr>
          <a:xfrm>
            <a:off x="6781800" y="4864100"/>
            <a:ext cx="4470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Grade distribution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1D87A7-0574-A60D-C591-4724A58DB16A}"/>
              </a:ext>
            </a:extLst>
          </p:cNvPr>
          <p:cNvSpPr txBox="1"/>
          <p:nvPr/>
        </p:nvSpPr>
        <p:spPr>
          <a:xfrm>
            <a:off x="6781800" y="5283200"/>
            <a:ext cx="44704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Surfaces level mix for open positions to align hiring and bench redeployment.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32518B-5DA7-6862-1418-F89DD03C70EF}"/>
              </a:ext>
            </a:extLst>
          </p:cNvPr>
          <p:cNvSpPr/>
          <p:nvPr/>
        </p:nvSpPr>
        <p:spPr>
          <a:xfrm>
            <a:off x="533400" y="6426200"/>
            <a:ext cx="111125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7800F3-6621-20B7-0214-0618C4D0DB2C}"/>
              </a:ext>
            </a:extLst>
          </p:cNvPr>
          <p:cNvSpPr txBox="1"/>
          <p:nvPr/>
        </p:nvSpPr>
        <p:spPr>
          <a:xfrm>
            <a:off x="533400" y="6477000"/>
            <a:ext cx="292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TalentIQ dashboard showcase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AC46B6-B594-412F-8050-BD3AFBF106BC}"/>
              </a:ext>
            </a:extLst>
          </p:cNvPr>
          <p:cNvSpPr txBox="1"/>
          <p:nvPr/>
        </p:nvSpPr>
        <p:spPr>
          <a:xfrm>
            <a:off x="10922000" y="6477000"/>
            <a:ext cx="6985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00788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E62112-9CB4-0CB2-53B5-FF54EE5127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9F8680-C4E0-854E-9394-E899DFE74DFB}"/>
              </a:ext>
            </a:extLst>
          </p:cNvPr>
          <p:cNvSpPr txBox="1"/>
          <p:nvPr/>
        </p:nvSpPr>
        <p:spPr>
          <a:xfrm>
            <a:off x="533400" y="304800"/>
            <a:ext cx="3048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 b="1">
                <a:solidFill>
                  <a:srgbClr val="0F766E"/>
                </a:solidFill>
                <a:latin typeface="Aptos" panose="020B0004020202020204" pitchFamily="34" charset="0"/>
              </a:rPr>
              <a:t>SKILL DEMAND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F102C4-EF44-AAB7-A347-5645439FF8F0}"/>
              </a:ext>
            </a:extLst>
          </p:cNvPr>
          <p:cNvSpPr txBox="1"/>
          <p:nvPr/>
        </p:nvSpPr>
        <p:spPr>
          <a:xfrm>
            <a:off x="533400" y="571500"/>
            <a:ext cx="8255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Aptos" panose="020B0004020202020204" pitchFamily="34" charset="0"/>
              </a:rPr>
              <a:t>Open positions become match-ready demand records</a:t>
            </a:r>
            <a:endParaRPr lang="en-IN" sz="24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0AB8F1-63F2-7E84-0348-34241896F87B}"/>
              </a:ext>
            </a:extLst>
          </p:cNvPr>
          <p:cNvSpPr txBox="1"/>
          <p:nvPr/>
        </p:nvSpPr>
        <p:spPr>
          <a:xfrm>
            <a:off x="558800" y="1041400"/>
            <a:ext cx="8255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TalentIQ extracts role, client, priority, grade, skills, age, location, and LOB/vertical from TA data.</a:t>
            </a:r>
            <a:endParaRPr lang="en-IN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DEDBF4-A784-938F-62E9-6EB068543800}"/>
              </a:ext>
            </a:extLst>
          </p:cNvPr>
          <p:cNvSpPr txBox="1"/>
          <p:nvPr/>
        </p:nvSpPr>
        <p:spPr>
          <a:xfrm>
            <a:off x="10033000" y="431800"/>
            <a:ext cx="15875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1600" b="1">
                <a:solidFill>
                  <a:srgbClr val="0F766E"/>
                </a:solidFill>
                <a:latin typeface="Aptos" panose="020B0004020202020204" pitchFamily="34" charset="0"/>
              </a:rPr>
              <a:t>TalentIQ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2D7D93-2215-9A05-199C-7AE4D0A89488}"/>
              </a:ext>
            </a:extLst>
          </p:cNvPr>
          <p:cNvSpPr/>
          <p:nvPr/>
        </p:nvSpPr>
        <p:spPr>
          <a:xfrm>
            <a:off x="863600" y="1549400"/>
            <a:ext cx="1905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A74BFF-4B52-A5E9-C3D7-27E2D72C11C2}"/>
              </a:ext>
            </a:extLst>
          </p:cNvPr>
          <p:cNvSpPr/>
          <p:nvPr/>
        </p:nvSpPr>
        <p:spPr>
          <a:xfrm>
            <a:off x="863600" y="1549400"/>
            <a:ext cx="19050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BBFC7-206C-3CF6-D751-919BCA7B6310}"/>
              </a:ext>
            </a:extLst>
          </p:cNvPr>
          <p:cNvSpPr txBox="1"/>
          <p:nvPr/>
        </p:nvSpPr>
        <p:spPr>
          <a:xfrm>
            <a:off x="990600" y="1676400"/>
            <a:ext cx="165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 b="1">
                <a:solidFill>
                  <a:srgbClr val="64748B"/>
                </a:solidFill>
                <a:latin typeface="Aptos" panose="020B0004020202020204" pitchFamily="34" charset="0"/>
              </a:rPr>
              <a:t>MATCH-READY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8929F5-14F1-AE21-3241-DC45088916C5}"/>
              </a:ext>
            </a:extLst>
          </p:cNvPr>
          <p:cNvSpPr txBox="1"/>
          <p:nvPr/>
        </p:nvSpPr>
        <p:spPr>
          <a:xfrm>
            <a:off x="990600" y="1930400"/>
            <a:ext cx="1651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2300" b="1">
                <a:solidFill>
                  <a:srgbClr val="0F172A"/>
                </a:solidFill>
                <a:latin typeface="Aptos" panose="020B0004020202020204" pitchFamily="34" charset="0"/>
              </a:rPr>
              <a:t>81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781C2B-8775-D607-1A13-D20C3B435651}"/>
              </a:ext>
            </a:extLst>
          </p:cNvPr>
          <p:cNvSpPr txBox="1"/>
          <p:nvPr/>
        </p:nvSpPr>
        <p:spPr>
          <a:xfrm>
            <a:off x="990600" y="2298700"/>
            <a:ext cx="1651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open positions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40C19A-AB9E-BB2D-3B88-9E8A64C69722}"/>
              </a:ext>
            </a:extLst>
          </p:cNvPr>
          <p:cNvSpPr/>
          <p:nvPr/>
        </p:nvSpPr>
        <p:spPr>
          <a:xfrm>
            <a:off x="3175000" y="1549400"/>
            <a:ext cx="1905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F0ED5C-8BA3-7511-AAE4-0CE26D9407F3}"/>
              </a:ext>
            </a:extLst>
          </p:cNvPr>
          <p:cNvSpPr/>
          <p:nvPr/>
        </p:nvSpPr>
        <p:spPr>
          <a:xfrm>
            <a:off x="3175000" y="1549400"/>
            <a:ext cx="19050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CF72FB-0DE9-6F33-5487-05AB11C629BD}"/>
              </a:ext>
            </a:extLst>
          </p:cNvPr>
          <p:cNvSpPr txBox="1"/>
          <p:nvPr/>
        </p:nvSpPr>
        <p:spPr>
          <a:xfrm>
            <a:off x="3302000" y="1676400"/>
            <a:ext cx="165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 b="1">
                <a:solidFill>
                  <a:srgbClr val="64748B"/>
                </a:solidFill>
                <a:latin typeface="Aptos" panose="020B0004020202020204" pitchFamily="34" charset="0"/>
              </a:rPr>
              <a:t>SKILLS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3E292C-BC14-1EAE-803E-A91903F8827B}"/>
              </a:ext>
            </a:extLst>
          </p:cNvPr>
          <p:cNvSpPr txBox="1"/>
          <p:nvPr/>
        </p:nvSpPr>
        <p:spPr>
          <a:xfrm>
            <a:off x="3302000" y="1930400"/>
            <a:ext cx="1651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2300" b="1">
                <a:solidFill>
                  <a:srgbClr val="0F172A"/>
                </a:solidFill>
                <a:latin typeface="Aptos" panose="020B0004020202020204" pitchFamily="34" charset="0"/>
              </a:rPr>
              <a:t>Parsed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9AD1C5-9DD5-879D-1FE2-B6824355F2E5}"/>
              </a:ext>
            </a:extLst>
          </p:cNvPr>
          <p:cNvSpPr txBox="1"/>
          <p:nvPr/>
        </p:nvSpPr>
        <p:spPr>
          <a:xfrm>
            <a:off x="3302000" y="2298700"/>
            <a:ext cx="1651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Primary + L3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B3F328-955D-7822-AA74-8633DBC45D49}"/>
              </a:ext>
            </a:extLst>
          </p:cNvPr>
          <p:cNvSpPr/>
          <p:nvPr/>
        </p:nvSpPr>
        <p:spPr>
          <a:xfrm>
            <a:off x="5486400" y="1549400"/>
            <a:ext cx="1905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B2B6C2-A5C2-B61E-431C-D47E05DB2A8C}"/>
              </a:ext>
            </a:extLst>
          </p:cNvPr>
          <p:cNvSpPr/>
          <p:nvPr/>
        </p:nvSpPr>
        <p:spPr>
          <a:xfrm>
            <a:off x="5486400" y="1549400"/>
            <a:ext cx="1905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EAD0AA-9F3B-5747-D3AD-F0F6E1F287FE}"/>
              </a:ext>
            </a:extLst>
          </p:cNvPr>
          <p:cNvSpPr txBox="1"/>
          <p:nvPr/>
        </p:nvSpPr>
        <p:spPr>
          <a:xfrm>
            <a:off x="5613400" y="1676400"/>
            <a:ext cx="165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 b="1">
                <a:solidFill>
                  <a:srgbClr val="64748B"/>
                </a:solidFill>
                <a:latin typeface="Aptos" panose="020B0004020202020204" pitchFamily="34" charset="0"/>
              </a:rPr>
              <a:t>PRIORITY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9101A1-94AD-FF07-B603-FA73E7CA3D8A}"/>
              </a:ext>
            </a:extLst>
          </p:cNvPr>
          <p:cNvSpPr txBox="1"/>
          <p:nvPr/>
        </p:nvSpPr>
        <p:spPr>
          <a:xfrm>
            <a:off x="5613400" y="1930400"/>
            <a:ext cx="1651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2300" b="1">
                <a:solidFill>
                  <a:srgbClr val="0F172A"/>
                </a:solidFill>
                <a:latin typeface="Aptos" panose="020B0004020202020204" pitchFamily="34" charset="0"/>
              </a:rPr>
              <a:t>Aging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2FB5F4-0CD6-9E42-5BEA-50194D5901CE}"/>
              </a:ext>
            </a:extLst>
          </p:cNvPr>
          <p:cNvSpPr txBox="1"/>
          <p:nvPr/>
        </p:nvSpPr>
        <p:spPr>
          <a:xfrm>
            <a:off x="5613400" y="2298700"/>
            <a:ext cx="1651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risk signal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BA6C30-3D30-E0EA-CFE7-43B72D98FAE6}"/>
              </a:ext>
            </a:extLst>
          </p:cNvPr>
          <p:cNvSpPr/>
          <p:nvPr/>
        </p:nvSpPr>
        <p:spPr>
          <a:xfrm>
            <a:off x="7797800" y="1549400"/>
            <a:ext cx="1905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C2AB3E-C89C-D83C-8939-CE0FEB2A77CC}"/>
              </a:ext>
            </a:extLst>
          </p:cNvPr>
          <p:cNvSpPr/>
          <p:nvPr/>
        </p:nvSpPr>
        <p:spPr>
          <a:xfrm>
            <a:off x="7797800" y="1549400"/>
            <a:ext cx="1905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1977F9-2853-7A74-B8C4-85802EDBC98E}"/>
              </a:ext>
            </a:extLst>
          </p:cNvPr>
          <p:cNvSpPr txBox="1"/>
          <p:nvPr/>
        </p:nvSpPr>
        <p:spPr>
          <a:xfrm>
            <a:off x="7924800" y="1676400"/>
            <a:ext cx="165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 b="1">
                <a:solidFill>
                  <a:srgbClr val="64748B"/>
                </a:solidFill>
                <a:latin typeface="Aptos" panose="020B0004020202020204" pitchFamily="34" charset="0"/>
              </a:rPr>
              <a:t>GRADE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453D8F-1125-3AE3-E5E7-E9FD393ACB6D}"/>
              </a:ext>
            </a:extLst>
          </p:cNvPr>
          <p:cNvSpPr txBox="1"/>
          <p:nvPr/>
        </p:nvSpPr>
        <p:spPr>
          <a:xfrm>
            <a:off x="7924800" y="1930400"/>
            <a:ext cx="1651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2300" b="1">
                <a:solidFill>
                  <a:srgbClr val="0F172A"/>
                </a:solidFill>
                <a:latin typeface="Aptos" panose="020B0004020202020204" pitchFamily="34" charset="0"/>
              </a:rPr>
              <a:t>+/- 2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94EE5C-A59D-710A-98EF-29A1B0B777B9}"/>
              </a:ext>
            </a:extLst>
          </p:cNvPr>
          <p:cNvSpPr txBox="1"/>
          <p:nvPr/>
        </p:nvSpPr>
        <p:spPr>
          <a:xfrm>
            <a:off x="7924800" y="2298700"/>
            <a:ext cx="1651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compatibility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6755DD4-38EE-3B4F-B5C5-63F84E099780}"/>
              </a:ext>
            </a:extLst>
          </p:cNvPr>
          <p:cNvSpPr/>
          <p:nvPr/>
        </p:nvSpPr>
        <p:spPr>
          <a:xfrm>
            <a:off x="952500" y="3429000"/>
            <a:ext cx="4572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64B24A-10C2-439D-DB08-DFBD318513A4}"/>
              </a:ext>
            </a:extLst>
          </p:cNvPr>
          <p:cNvSpPr txBox="1"/>
          <p:nvPr/>
        </p:nvSpPr>
        <p:spPr>
          <a:xfrm>
            <a:off x="1130300" y="3581400"/>
            <a:ext cx="4216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Position intelligence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3DEE48-60CE-8A74-F0B7-4D6036871A8E}"/>
              </a:ext>
            </a:extLst>
          </p:cNvPr>
          <p:cNvSpPr txBox="1"/>
          <p:nvPr/>
        </p:nvSpPr>
        <p:spPr>
          <a:xfrm>
            <a:off x="1130300" y="4000500"/>
            <a:ext cx="42164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Only Open requisitions enter skill mapping.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Skills are normalized from primary and L3 fields.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Country becomes onshore/offshore context.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F41DAF0-8525-6FC6-DCAC-534375093EF4}"/>
              </a:ext>
            </a:extLst>
          </p:cNvPr>
          <p:cNvSpPr/>
          <p:nvPr/>
        </p:nvSpPr>
        <p:spPr>
          <a:xfrm>
            <a:off x="6350000" y="3429000"/>
            <a:ext cx="4572000" cy="1651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990748-AD24-AD45-A551-C0A6451AD357}"/>
              </a:ext>
            </a:extLst>
          </p:cNvPr>
          <p:cNvSpPr txBox="1"/>
          <p:nvPr/>
        </p:nvSpPr>
        <p:spPr>
          <a:xfrm>
            <a:off x="6527800" y="3581400"/>
            <a:ext cx="4216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Company context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13DD3E-F177-183E-6BD8-B8FBAF66E924}"/>
              </a:ext>
            </a:extLst>
          </p:cNvPr>
          <p:cNvSpPr txBox="1"/>
          <p:nvPr/>
        </p:nvSpPr>
        <p:spPr>
          <a:xfrm>
            <a:off x="6527800" y="4000500"/>
            <a:ext cx="42164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Demand is no longer just a row in a workbook.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Each position can be matched, filtered, exported, and explained.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4F1798-2772-E8C9-6101-B5A50DEDA27E}"/>
              </a:ext>
            </a:extLst>
          </p:cNvPr>
          <p:cNvSpPr/>
          <p:nvPr/>
        </p:nvSpPr>
        <p:spPr>
          <a:xfrm>
            <a:off x="533400" y="6426200"/>
            <a:ext cx="111125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3C6581-C431-DFFE-C490-7E3D31E1D440}"/>
              </a:ext>
            </a:extLst>
          </p:cNvPr>
          <p:cNvSpPr txBox="1"/>
          <p:nvPr/>
        </p:nvSpPr>
        <p:spPr>
          <a:xfrm>
            <a:off x="533400" y="6477000"/>
            <a:ext cx="292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TalentIQ dashboard showcase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BD9F36-4AAE-DFDA-069E-6DF3D40C9928}"/>
              </a:ext>
            </a:extLst>
          </p:cNvPr>
          <p:cNvSpPr txBox="1"/>
          <p:nvPr/>
        </p:nvSpPr>
        <p:spPr>
          <a:xfrm>
            <a:off x="10922000" y="6477000"/>
            <a:ext cx="6985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76958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2FE223-50C8-19AF-24AD-020D694486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BD28F4-CC51-6299-6F68-F9B7002D7363}"/>
              </a:ext>
            </a:extLst>
          </p:cNvPr>
          <p:cNvSpPr txBox="1"/>
          <p:nvPr/>
        </p:nvSpPr>
        <p:spPr>
          <a:xfrm>
            <a:off x="533400" y="304800"/>
            <a:ext cx="3048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 b="1">
                <a:solidFill>
                  <a:srgbClr val="0F766E"/>
                </a:solidFill>
                <a:latin typeface="Aptos" panose="020B0004020202020204" pitchFamily="34" charset="0"/>
              </a:rPr>
              <a:t>BENCH RESOURCES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0D55F-71D1-4A91-A9D4-02EA078A3C65}"/>
              </a:ext>
            </a:extLst>
          </p:cNvPr>
          <p:cNvSpPr txBox="1"/>
          <p:nvPr/>
        </p:nvSpPr>
        <p:spPr>
          <a:xfrm>
            <a:off x="533400" y="571500"/>
            <a:ext cx="8255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Aptos" panose="020B0004020202020204" pitchFamily="34" charset="0"/>
              </a:rPr>
              <a:t>A governed inventory of internal supply</a:t>
            </a:r>
            <a:endParaRPr lang="en-IN" sz="24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ACA57A-95F4-85AE-4A23-66AB71C8231B}"/>
              </a:ext>
            </a:extLst>
          </p:cNvPr>
          <p:cNvSpPr txBox="1"/>
          <p:nvPr/>
        </p:nvSpPr>
        <p:spPr>
          <a:xfrm>
            <a:off x="558800" y="1041400"/>
            <a:ext cx="8255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Combines bench employee IDs with latest MSD allocation data and manual corrections.</a:t>
            </a:r>
            <a:endParaRPr lang="en-IN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F76334-978D-D2B9-8BEF-955D1D63786D}"/>
              </a:ext>
            </a:extLst>
          </p:cNvPr>
          <p:cNvSpPr txBox="1"/>
          <p:nvPr/>
        </p:nvSpPr>
        <p:spPr>
          <a:xfrm>
            <a:off x="10033000" y="431800"/>
            <a:ext cx="15875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1600" b="1">
                <a:solidFill>
                  <a:srgbClr val="0F766E"/>
                </a:solidFill>
                <a:latin typeface="Aptos" panose="020B0004020202020204" pitchFamily="34" charset="0"/>
              </a:rPr>
              <a:t>TalentIQ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08A606-1017-8CC9-6962-8E50D93D567F}"/>
              </a:ext>
            </a:extLst>
          </p:cNvPr>
          <p:cNvSpPr/>
          <p:nvPr/>
        </p:nvSpPr>
        <p:spPr>
          <a:xfrm>
            <a:off x="762000" y="1520525"/>
            <a:ext cx="1905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FFC119-3EFB-A16F-2455-9426F338C55C}"/>
              </a:ext>
            </a:extLst>
          </p:cNvPr>
          <p:cNvSpPr/>
          <p:nvPr/>
        </p:nvSpPr>
        <p:spPr>
          <a:xfrm>
            <a:off x="762000" y="1520525"/>
            <a:ext cx="1905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E2433E-C107-6779-5A5F-0B1E1B482EBF}"/>
              </a:ext>
            </a:extLst>
          </p:cNvPr>
          <p:cNvSpPr txBox="1"/>
          <p:nvPr/>
        </p:nvSpPr>
        <p:spPr>
          <a:xfrm>
            <a:off x="889000" y="1647525"/>
            <a:ext cx="165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 b="1">
                <a:solidFill>
                  <a:srgbClr val="64748B"/>
                </a:solidFill>
                <a:latin typeface="Aptos" panose="020B0004020202020204" pitchFamily="34" charset="0"/>
              </a:rPr>
              <a:t>MATCHED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4FC629-D1E1-3F9A-5138-167924BB9C61}"/>
              </a:ext>
            </a:extLst>
          </p:cNvPr>
          <p:cNvSpPr txBox="1"/>
          <p:nvPr/>
        </p:nvSpPr>
        <p:spPr>
          <a:xfrm>
            <a:off x="889000" y="1901525"/>
            <a:ext cx="1651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2300" b="1">
                <a:solidFill>
                  <a:srgbClr val="0F172A"/>
                </a:solidFill>
                <a:latin typeface="Aptos" panose="020B0004020202020204" pitchFamily="34" charset="0"/>
              </a:rPr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604D6B-359F-A1EB-2E81-FFF172947395}"/>
              </a:ext>
            </a:extLst>
          </p:cNvPr>
          <p:cNvSpPr txBox="1"/>
          <p:nvPr/>
        </p:nvSpPr>
        <p:spPr>
          <a:xfrm>
            <a:off x="889000" y="2269825"/>
            <a:ext cx="1651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bench resources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5EC28D-51C9-3670-C83F-914C3C0EA868}"/>
              </a:ext>
            </a:extLst>
          </p:cNvPr>
          <p:cNvSpPr/>
          <p:nvPr/>
        </p:nvSpPr>
        <p:spPr>
          <a:xfrm>
            <a:off x="762000" y="2588853"/>
            <a:ext cx="1905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DE6F19-E6BB-1D2F-0D66-B1B37D2DA964}"/>
              </a:ext>
            </a:extLst>
          </p:cNvPr>
          <p:cNvSpPr/>
          <p:nvPr/>
        </p:nvSpPr>
        <p:spPr>
          <a:xfrm>
            <a:off x="762000" y="2588853"/>
            <a:ext cx="1905000" cy="381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C9CD85-D1BA-5F54-1227-6A2291F7BC46}"/>
              </a:ext>
            </a:extLst>
          </p:cNvPr>
          <p:cNvSpPr txBox="1"/>
          <p:nvPr/>
        </p:nvSpPr>
        <p:spPr>
          <a:xfrm>
            <a:off x="889000" y="2715853"/>
            <a:ext cx="165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 b="1">
                <a:solidFill>
                  <a:srgbClr val="64748B"/>
                </a:solidFill>
                <a:latin typeface="Aptos" panose="020B0004020202020204" pitchFamily="34" charset="0"/>
              </a:rPr>
              <a:t>SOURCES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404DF5-8BCB-DB1E-AEE6-1BAB056A33A1}"/>
              </a:ext>
            </a:extLst>
          </p:cNvPr>
          <p:cNvSpPr txBox="1"/>
          <p:nvPr/>
        </p:nvSpPr>
        <p:spPr>
          <a:xfrm>
            <a:off x="889000" y="2969853"/>
            <a:ext cx="16510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600" b="1" dirty="0">
                <a:solidFill>
                  <a:srgbClr val="0F172A"/>
                </a:solidFill>
                <a:latin typeface="Aptos" panose="020B0004020202020204" pitchFamily="34" charset="0"/>
              </a:rPr>
              <a:t>Upload + manual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3C82F-FE22-8B7D-E4A0-402986BE9D76}"/>
              </a:ext>
            </a:extLst>
          </p:cNvPr>
          <p:cNvSpPr txBox="1"/>
          <p:nvPr/>
        </p:nvSpPr>
        <p:spPr>
          <a:xfrm>
            <a:off x="889000" y="3338153"/>
            <a:ext cx="1651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tracked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6AF89E-1C74-2CCF-C6D2-84CF8ED0086E}"/>
              </a:ext>
            </a:extLst>
          </p:cNvPr>
          <p:cNvSpPr/>
          <p:nvPr/>
        </p:nvSpPr>
        <p:spPr>
          <a:xfrm>
            <a:off x="762000" y="3630253"/>
            <a:ext cx="1905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9361C2-C6EF-E9E8-BB2B-E0BC2BDFD8A0}"/>
              </a:ext>
            </a:extLst>
          </p:cNvPr>
          <p:cNvSpPr/>
          <p:nvPr/>
        </p:nvSpPr>
        <p:spPr>
          <a:xfrm>
            <a:off x="762000" y="3630253"/>
            <a:ext cx="19050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ADF281-8F29-1853-BFAB-D0D4B9E9D2D2}"/>
              </a:ext>
            </a:extLst>
          </p:cNvPr>
          <p:cNvSpPr txBox="1"/>
          <p:nvPr/>
        </p:nvSpPr>
        <p:spPr>
          <a:xfrm>
            <a:off x="889000" y="3757253"/>
            <a:ext cx="165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 b="1">
                <a:solidFill>
                  <a:srgbClr val="64748B"/>
                </a:solidFill>
                <a:latin typeface="Aptos" panose="020B0004020202020204" pitchFamily="34" charset="0"/>
              </a:rPr>
              <a:t>SNAPSHOT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E8D85A-1D5D-26A8-8CCE-4739D81AE571}"/>
              </a:ext>
            </a:extLst>
          </p:cNvPr>
          <p:cNvSpPr txBox="1"/>
          <p:nvPr/>
        </p:nvSpPr>
        <p:spPr>
          <a:xfrm>
            <a:off x="889000" y="4011253"/>
            <a:ext cx="1651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 dirty="0">
                <a:solidFill>
                  <a:srgbClr val="0F172A"/>
                </a:solidFill>
                <a:latin typeface="Aptos" panose="020B0004020202020204" pitchFamily="34" charset="0"/>
              </a:rPr>
              <a:t>Effective date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E7691F-551D-2992-D13B-AC1E35114FA1}"/>
              </a:ext>
            </a:extLst>
          </p:cNvPr>
          <p:cNvSpPr txBox="1"/>
          <p:nvPr/>
        </p:nvSpPr>
        <p:spPr>
          <a:xfrm>
            <a:off x="889000" y="4379553"/>
            <a:ext cx="1651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controlled updates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FECC7C-90D3-87A8-5303-0DA383F46B97}"/>
              </a:ext>
            </a:extLst>
          </p:cNvPr>
          <p:cNvSpPr/>
          <p:nvPr/>
        </p:nvSpPr>
        <p:spPr>
          <a:xfrm>
            <a:off x="762000" y="4657930"/>
            <a:ext cx="1905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BCAF02-59BD-9A9A-1E04-85D9BD7F8A85}"/>
              </a:ext>
            </a:extLst>
          </p:cNvPr>
          <p:cNvSpPr/>
          <p:nvPr/>
        </p:nvSpPr>
        <p:spPr>
          <a:xfrm>
            <a:off x="762000" y="4657930"/>
            <a:ext cx="1905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51EE6D-C3EF-8702-7FCD-8ABB2AFF377E}"/>
              </a:ext>
            </a:extLst>
          </p:cNvPr>
          <p:cNvSpPr txBox="1"/>
          <p:nvPr/>
        </p:nvSpPr>
        <p:spPr>
          <a:xfrm>
            <a:off x="889000" y="4784930"/>
            <a:ext cx="165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 b="1">
                <a:solidFill>
                  <a:srgbClr val="64748B"/>
                </a:solidFill>
                <a:latin typeface="Aptos" panose="020B0004020202020204" pitchFamily="34" charset="0"/>
              </a:rPr>
              <a:t>EXPORT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DF0D3E-0531-F304-BC0D-7501D5E3B86B}"/>
              </a:ext>
            </a:extLst>
          </p:cNvPr>
          <p:cNvSpPr txBox="1"/>
          <p:nvPr/>
        </p:nvSpPr>
        <p:spPr>
          <a:xfrm>
            <a:off x="889000" y="5038930"/>
            <a:ext cx="1651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2300" b="1">
                <a:solidFill>
                  <a:srgbClr val="0F172A"/>
                </a:solidFill>
                <a:latin typeface="Aptos" panose="020B0004020202020204" pitchFamily="34" charset="0"/>
              </a:rPr>
              <a:t>Excel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5C1CF7-FCB9-25D3-3E8F-5A4D5FE79C67}"/>
              </a:ext>
            </a:extLst>
          </p:cNvPr>
          <p:cNvSpPr txBox="1"/>
          <p:nvPr/>
        </p:nvSpPr>
        <p:spPr>
          <a:xfrm>
            <a:off x="889000" y="5407230"/>
            <a:ext cx="1651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handoff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6E5F01F-1FB6-609F-FAEB-B4F22EF23A39}"/>
              </a:ext>
            </a:extLst>
          </p:cNvPr>
          <p:cNvSpPr/>
          <p:nvPr/>
        </p:nvSpPr>
        <p:spPr>
          <a:xfrm>
            <a:off x="7620000" y="2703939"/>
            <a:ext cx="4826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68F93D-4AB9-C14B-605C-79520EE89323}"/>
              </a:ext>
            </a:extLst>
          </p:cNvPr>
          <p:cNvSpPr txBox="1"/>
          <p:nvPr/>
        </p:nvSpPr>
        <p:spPr>
          <a:xfrm>
            <a:off x="7797800" y="2856339"/>
            <a:ext cx="4470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Manual and file sources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F4ABA1-A38E-EAEB-9A8D-6ECB734795A5}"/>
              </a:ext>
            </a:extLst>
          </p:cNvPr>
          <p:cNvSpPr txBox="1"/>
          <p:nvPr/>
        </p:nvSpPr>
        <p:spPr>
          <a:xfrm>
            <a:off x="7797800" y="3275439"/>
            <a:ext cx="44704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Manual ID entry supports incomplete source files.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Inventory marks source as Manual or File Upload.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Columns, filters, search, delete, and export support daily use.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2C96AF8-F8B4-9E10-E19C-553C553894C8}"/>
              </a:ext>
            </a:extLst>
          </p:cNvPr>
          <p:cNvSpPr/>
          <p:nvPr/>
        </p:nvSpPr>
        <p:spPr>
          <a:xfrm>
            <a:off x="6667500" y="3619500"/>
            <a:ext cx="4254500" cy="1143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Aptos" panose="020B0004020202020204" pitchFamily="34" charset="0"/>
              </a:rPr>
              <a:t>Upload redirect</a:t>
            </a:r>
          </a:p>
          <a:p>
            <a:pPr algn="ctr"/>
            <a:r>
              <a:rPr lang="en-US" sz="1300" b="1">
                <a:solidFill>
                  <a:srgbClr val="0F766E"/>
                </a:solidFill>
                <a:latin typeface="Aptos" panose="020B0004020202020204" pitchFamily="34" charset="0"/>
              </a:rPr>
              <a:t>The upload flow includes a button that opens Skill Mapping &gt; Bench Resources and focuses the manual employee ID section.</a:t>
            </a:r>
            <a:endParaRPr lang="en-IN" sz="1300" b="1">
              <a:solidFill>
                <a:srgbClr val="0F766E"/>
              </a:solidFill>
              <a:latin typeface="Aptos" panose="020B00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4E850A-6B10-A803-AEE7-5D0A824455CD}"/>
              </a:ext>
            </a:extLst>
          </p:cNvPr>
          <p:cNvSpPr/>
          <p:nvPr/>
        </p:nvSpPr>
        <p:spPr>
          <a:xfrm>
            <a:off x="533400" y="6426200"/>
            <a:ext cx="111125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58C372-9439-E221-5A7F-ABC5DC04C633}"/>
              </a:ext>
            </a:extLst>
          </p:cNvPr>
          <p:cNvSpPr txBox="1"/>
          <p:nvPr/>
        </p:nvSpPr>
        <p:spPr>
          <a:xfrm>
            <a:off x="533400" y="6477000"/>
            <a:ext cx="292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TalentIQ dashboard showcase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EE9F51-A08C-C80C-5026-FFA794BF705C}"/>
              </a:ext>
            </a:extLst>
          </p:cNvPr>
          <p:cNvSpPr txBox="1"/>
          <p:nvPr/>
        </p:nvSpPr>
        <p:spPr>
          <a:xfrm>
            <a:off x="10922000" y="6477000"/>
            <a:ext cx="6985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06547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A728D2-1AAB-DB55-3465-CCC88AFA8A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C79F39-DCE8-702D-C1CA-5F4ADD45A770}"/>
              </a:ext>
            </a:extLst>
          </p:cNvPr>
          <p:cNvSpPr txBox="1"/>
          <p:nvPr/>
        </p:nvSpPr>
        <p:spPr>
          <a:xfrm>
            <a:off x="533400" y="304800"/>
            <a:ext cx="3048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 b="1">
                <a:solidFill>
                  <a:srgbClr val="0F766E"/>
                </a:solidFill>
                <a:latin typeface="Aptos" panose="020B0004020202020204" pitchFamily="34" charset="0"/>
              </a:rPr>
              <a:t>SKILL MAPPING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EE4ADE-BFA8-0C01-88F9-801B22E1C72E}"/>
              </a:ext>
            </a:extLst>
          </p:cNvPr>
          <p:cNvSpPr txBox="1"/>
          <p:nvPr/>
        </p:nvSpPr>
        <p:spPr>
          <a:xfrm>
            <a:off x="533400" y="571500"/>
            <a:ext cx="8255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Aptos" panose="020B0004020202020204" pitchFamily="34" charset="0"/>
              </a:rPr>
              <a:t>How TalentIQ ranks internal candidates for open positions</a:t>
            </a:r>
            <a:endParaRPr lang="en-IN" sz="24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1EF0C3-FDD2-BF7C-0B38-40D802F54178}"/>
              </a:ext>
            </a:extLst>
          </p:cNvPr>
          <p:cNvSpPr txBox="1"/>
          <p:nvPr/>
        </p:nvSpPr>
        <p:spPr>
          <a:xfrm>
            <a:off x="558800" y="1041400"/>
            <a:ext cx="8255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The match engine combines skill fit, shore alignment, grade compatibility, and bench context.</a:t>
            </a:r>
            <a:endParaRPr lang="en-IN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C5A95A-AE98-1358-432D-0575BAB31CCE}"/>
              </a:ext>
            </a:extLst>
          </p:cNvPr>
          <p:cNvSpPr txBox="1"/>
          <p:nvPr/>
        </p:nvSpPr>
        <p:spPr>
          <a:xfrm>
            <a:off x="10033000" y="431800"/>
            <a:ext cx="15875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1600" b="1">
                <a:solidFill>
                  <a:srgbClr val="0F766E"/>
                </a:solidFill>
                <a:latin typeface="Aptos" panose="020B0004020202020204" pitchFamily="34" charset="0"/>
              </a:rPr>
              <a:t>TalentIQ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7E9121D-1E67-E933-298C-687BA1EF97CC}"/>
              </a:ext>
            </a:extLst>
          </p:cNvPr>
          <p:cNvSpPr/>
          <p:nvPr/>
        </p:nvSpPr>
        <p:spPr>
          <a:xfrm>
            <a:off x="762000" y="1651000"/>
            <a:ext cx="1841500" cy="76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IN" sz="1100" b="1">
                <a:solidFill>
                  <a:srgbClr val="1E293B"/>
                </a:solidFill>
                <a:latin typeface="Aptos" panose="020B0004020202020204" pitchFamily="34" charset="0"/>
              </a:rPr>
              <a:t>Position</a:t>
            </a:r>
          </a:p>
          <a:p>
            <a:pPr algn="ctr"/>
            <a:r>
              <a:rPr lang="en-IN" sz="1100" b="1">
                <a:solidFill>
                  <a:srgbClr val="1E293B"/>
                </a:solidFill>
                <a:latin typeface="Aptos" panose="020B0004020202020204" pitchFamily="34" charset="0"/>
              </a:rPr>
              <a:t>requirements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39FAA6-D98F-0E36-30FA-331011D51783}"/>
              </a:ext>
            </a:extLst>
          </p:cNvPr>
          <p:cNvSpPr/>
          <p:nvPr/>
        </p:nvSpPr>
        <p:spPr>
          <a:xfrm>
            <a:off x="2921000" y="1651000"/>
            <a:ext cx="1841500" cy="762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IN" sz="1100" b="1">
                <a:solidFill>
                  <a:srgbClr val="1E293B"/>
                </a:solidFill>
                <a:latin typeface="Aptos" panose="020B0004020202020204" pitchFamily="34" charset="0"/>
              </a:rPr>
              <a:t>Same-shore</a:t>
            </a:r>
          </a:p>
          <a:p>
            <a:pPr algn="ctr"/>
            <a:r>
              <a:rPr lang="en-IN" sz="1100" b="1">
                <a:solidFill>
                  <a:srgbClr val="1E293B"/>
                </a:solidFill>
                <a:latin typeface="Aptos" panose="020B0004020202020204" pitchFamily="34" charset="0"/>
              </a:rPr>
              <a:t>pool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3B07E1-77EB-7063-6C05-F5D7801E1F0A}"/>
              </a:ext>
            </a:extLst>
          </p:cNvPr>
          <p:cNvSpPr/>
          <p:nvPr/>
        </p:nvSpPr>
        <p:spPr>
          <a:xfrm>
            <a:off x="5080000" y="1651000"/>
            <a:ext cx="1841500" cy="762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IN" sz="1100" b="1">
                <a:solidFill>
                  <a:srgbClr val="1E293B"/>
                </a:solidFill>
                <a:latin typeface="Aptos" panose="020B0004020202020204" pitchFamily="34" charset="0"/>
              </a:rPr>
              <a:t>Skill + grade</a:t>
            </a:r>
          </a:p>
          <a:p>
            <a:pPr algn="ctr"/>
            <a:r>
              <a:rPr lang="en-IN" sz="1100" b="1">
                <a:solidFill>
                  <a:srgbClr val="1E293B"/>
                </a:solidFill>
                <a:latin typeface="Aptos" panose="020B0004020202020204" pitchFamily="34" charset="0"/>
              </a:rPr>
              <a:t>scoring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08C853-367A-1D33-B82C-BA1F5B8873B5}"/>
              </a:ext>
            </a:extLst>
          </p:cNvPr>
          <p:cNvSpPr/>
          <p:nvPr/>
        </p:nvSpPr>
        <p:spPr>
          <a:xfrm>
            <a:off x="7239000" y="1651000"/>
            <a:ext cx="1841500" cy="7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IN" sz="1100" b="1">
                <a:solidFill>
                  <a:srgbClr val="1E293B"/>
                </a:solidFill>
                <a:latin typeface="Aptos" panose="020B0004020202020204" pitchFamily="34" charset="0"/>
              </a:rPr>
              <a:t>Ranked</a:t>
            </a:r>
          </a:p>
          <a:p>
            <a:pPr algn="ctr"/>
            <a:r>
              <a:rPr lang="en-IN" sz="1100" b="1">
                <a:solidFill>
                  <a:srgbClr val="1E293B"/>
                </a:solidFill>
                <a:latin typeface="Aptos" panose="020B0004020202020204" pitchFamily="34" charset="0"/>
              </a:rPr>
              <a:t>candidates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A4647C-AEF0-0E01-0E9D-2D04736316D5}"/>
              </a:ext>
            </a:extLst>
          </p:cNvPr>
          <p:cNvSpPr/>
          <p:nvPr/>
        </p:nvSpPr>
        <p:spPr>
          <a:xfrm>
            <a:off x="9398000" y="1651000"/>
            <a:ext cx="1841500" cy="762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IN" sz="1100" b="1">
                <a:solidFill>
                  <a:srgbClr val="1E293B"/>
                </a:solidFill>
                <a:latin typeface="Aptos" panose="020B0004020202020204" pitchFamily="34" charset="0"/>
              </a:rPr>
              <a:t>Excel / AI</a:t>
            </a:r>
          </a:p>
          <a:p>
            <a:pPr algn="ctr"/>
            <a:r>
              <a:rPr lang="en-IN" sz="1100" b="1">
                <a:solidFill>
                  <a:srgbClr val="1E293B"/>
                </a:solidFill>
                <a:latin typeface="Aptos" panose="020B0004020202020204" pitchFamily="34" charset="0"/>
              </a:rPr>
              <a:t>follow-up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92A031-305F-9F18-4395-D0601E9D93B5}"/>
              </a:ext>
            </a:extLst>
          </p:cNvPr>
          <p:cNvSpPr/>
          <p:nvPr/>
        </p:nvSpPr>
        <p:spPr>
          <a:xfrm>
            <a:off x="952500" y="3429000"/>
            <a:ext cx="469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E4CE1B-05AD-AF0E-9588-170924C330AE}"/>
              </a:ext>
            </a:extLst>
          </p:cNvPr>
          <p:cNvSpPr txBox="1"/>
          <p:nvPr/>
        </p:nvSpPr>
        <p:spPr>
          <a:xfrm>
            <a:off x="1130300" y="3581400"/>
            <a:ext cx="4343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Scoring logic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EC0487-FB5F-3EA9-7ACE-6843F0EFDA95}"/>
              </a:ext>
            </a:extLst>
          </p:cNvPr>
          <p:cNvSpPr txBox="1"/>
          <p:nvPr/>
        </p:nvSpPr>
        <p:spPr>
          <a:xfrm>
            <a:off x="1130300" y="4000500"/>
            <a:ext cx="43434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Fuzzy skill comparison handles exact and partial matches.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Confidence bands: High &gt;= 80, Medium 60-79, Low 40-59.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Grade compatibility allows nearby levels.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FC7AFF2-6BA4-8964-02E5-3AC36E725782}"/>
              </a:ext>
            </a:extLst>
          </p:cNvPr>
          <p:cNvSpPr/>
          <p:nvPr/>
        </p:nvSpPr>
        <p:spPr>
          <a:xfrm>
            <a:off x="6540500" y="3429000"/>
            <a:ext cx="4572000" cy="18415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891B01-7664-C3BA-3DBC-8F127665C31C}"/>
              </a:ext>
            </a:extLst>
          </p:cNvPr>
          <p:cNvSpPr txBox="1"/>
          <p:nvPr/>
        </p:nvSpPr>
        <p:spPr>
          <a:xfrm>
            <a:off x="6718300" y="3581400"/>
            <a:ext cx="4216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Company value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D92B2B-2888-A10A-08D6-650344635F0D}"/>
              </a:ext>
            </a:extLst>
          </p:cNvPr>
          <p:cNvSpPr txBox="1"/>
          <p:nvPr/>
        </p:nvSpPr>
        <p:spPr>
          <a:xfrm>
            <a:off x="6718300" y="4000500"/>
            <a:ext cx="42164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Redeploy bench resources sooner.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Reduce spreadsheet matching.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Focus teams on highest-confidence staffing options.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ACE15F-0D46-FE51-4D1D-A5FC448113A3}"/>
              </a:ext>
            </a:extLst>
          </p:cNvPr>
          <p:cNvSpPr/>
          <p:nvPr/>
        </p:nvSpPr>
        <p:spPr>
          <a:xfrm>
            <a:off x="533400" y="6426200"/>
            <a:ext cx="111125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80DB8E-0842-4C0F-0FB5-D3CFC3FB5FBA}"/>
              </a:ext>
            </a:extLst>
          </p:cNvPr>
          <p:cNvSpPr txBox="1"/>
          <p:nvPr/>
        </p:nvSpPr>
        <p:spPr>
          <a:xfrm>
            <a:off x="533400" y="6477000"/>
            <a:ext cx="292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TalentIQ dashboard showcase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DDB658-5416-553E-2921-1747EA753E5F}"/>
              </a:ext>
            </a:extLst>
          </p:cNvPr>
          <p:cNvSpPr txBox="1"/>
          <p:nvPr/>
        </p:nvSpPr>
        <p:spPr>
          <a:xfrm>
            <a:off x="10922000" y="6477000"/>
            <a:ext cx="6985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03266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0E214B-3B63-5327-A103-F9050161F4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05F1A5-FC7A-2586-F9CF-295474A53D11}"/>
              </a:ext>
            </a:extLst>
          </p:cNvPr>
          <p:cNvSpPr txBox="1"/>
          <p:nvPr/>
        </p:nvSpPr>
        <p:spPr>
          <a:xfrm>
            <a:off x="533400" y="304800"/>
            <a:ext cx="3048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 b="1">
                <a:solidFill>
                  <a:srgbClr val="0F766E"/>
                </a:solidFill>
                <a:latin typeface="Aptos" panose="020B0004020202020204" pitchFamily="34" charset="0"/>
              </a:rPr>
              <a:t>AI ASSISTANCE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81CB6F-13A3-9D79-4AF2-CCE7AC335F4E}"/>
              </a:ext>
            </a:extLst>
          </p:cNvPr>
          <p:cNvSpPr txBox="1"/>
          <p:nvPr/>
        </p:nvSpPr>
        <p:spPr>
          <a:xfrm>
            <a:off x="533400" y="571500"/>
            <a:ext cx="8255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Aptos" panose="020B0004020202020204" pitchFamily="34" charset="0"/>
              </a:rPr>
              <a:t>LLM matching adds reasoning on top of structured scoring</a:t>
            </a:r>
            <a:endParaRPr lang="en-IN" sz="24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6C7A8E-D68B-C82D-DAD9-B640FAAE03C8}"/>
              </a:ext>
            </a:extLst>
          </p:cNvPr>
          <p:cNvSpPr txBox="1"/>
          <p:nvPr/>
        </p:nvSpPr>
        <p:spPr>
          <a:xfrm>
            <a:off x="558800" y="1041400"/>
            <a:ext cx="8255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TalentIQ can call OpenAI for explainable recommendations when an API key is configured.</a:t>
            </a:r>
            <a:endParaRPr lang="en-IN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E33CC-CDCF-F284-9C4E-E2B19A0CF84B}"/>
              </a:ext>
            </a:extLst>
          </p:cNvPr>
          <p:cNvSpPr txBox="1"/>
          <p:nvPr/>
        </p:nvSpPr>
        <p:spPr>
          <a:xfrm>
            <a:off x="10033000" y="431800"/>
            <a:ext cx="15875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1600" b="1">
                <a:solidFill>
                  <a:srgbClr val="0F766E"/>
                </a:solidFill>
                <a:latin typeface="Aptos" panose="020B0004020202020204" pitchFamily="34" charset="0"/>
              </a:rPr>
              <a:t>TalentIQ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1D4E12-B1E1-1A71-A431-689B9E65B52B}"/>
              </a:ext>
            </a:extLst>
          </p:cNvPr>
          <p:cNvSpPr/>
          <p:nvPr/>
        </p:nvSpPr>
        <p:spPr>
          <a:xfrm>
            <a:off x="889000" y="1676400"/>
            <a:ext cx="3048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1600C2-A21F-C50C-7D59-31BC2AFD693D}"/>
              </a:ext>
            </a:extLst>
          </p:cNvPr>
          <p:cNvSpPr txBox="1"/>
          <p:nvPr/>
        </p:nvSpPr>
        <p:spPr>
          <a:xfrm>
            <a:off x="1066800" y="1828800"/>
            <a:ext cx="2692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Structured AI 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F20891-15F3-EFAA-59E7-09A34562C61B}"/>
              </a:ext>
            </a:extLst>
          </p:cNvPr>
          <p:cNvSpPr txBox="1"/>
          <p:nvPr/>
        </p:nvSpPr>
        <p:spPr>
          <a:xfrm>
            <a:off x="1066800" y="2247900"/>
            <a:ext cx="26924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Summary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Recommendation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Top matches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Resource-level rationale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7D05CF-527D-C49F-63FA-7E98B23D0971}"/>
              </a:ext>
            </a:extLst>
          </p:cNvPr>
          <p:cNvSpPr/>
          <p:nvPr/>
        </p:nvSpPr>
        <p:spPr>
          <a:xfrm>
            <a:off x="4572000" y="1676400"/>
            <a:ext cx="3048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7A3B3-C18A-7CEF-F030-3FD661A95D2E}"/>
              </a:ext>
            </a:extLst>
          </p:cNvPr>
          <p:cNvSpPr txBox="1"/>
          <p:nvPr/>
        </p:nvSpPr>
        <p:spPr>
          <a:xfrm>
            <a:off x="4749800" y="1828800"/>
            <a:ext cx="2692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Governed calls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B3FFAC-6E2A-E053-4D40-4219EECAD3A3}"/>
              </a:ext>
            </a:extLst>
          </p:cNvPr>
          <p:cNvSpPr txBox="1"/>
          <p:nvPr/>
        </p:nvSpPr>
        <p:spPr>
          <a:xfrm>
            <a:off x="4749800" y="2247900"/>
            <a:ext cx="26924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Candidate caps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No-skill positions skipped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Cost estimate before run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Structured JSON response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6CB752A-82B9-8683-CE76-8548703B0756}"/>
              </a:ext>
            </a:extLst>
          </p:cNvPr>
          <p:cNvSpPr/>
          <p:nvPr/>
        </p:nvSpPr>
        <p:spPr>
          <a:xfrm>
            <a:off x="8255000" y="1676400"/>
            <a:ext cx="3048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A750EA-F5CC-D055-057D-4881619136D7}"/>
              </a:ext>
            </a:extLst>
          </p:cNvPr>
          <p:cNvSpPr txBox="1"/>
          <p:nvPr/>
        </p:nvSpPr>
        <p:spPr>
          <a:xfrm>
            <a:off x="8432800" y="1828800"/>
            <a:ext cx="2692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Cached results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851A24-7C08-2677-3B43-8070352BE11D}"/>
              </a:ext>
            </a:extLst>
          </p:cNvPr>
          <p:cNvSpPr txBox="1"/>
          <p:nvPr/>
        </p:nvSpPr>
        <p:spPr>
          <a:xfrm>
            <a:off x="8432800" y="2247900"/>
            <a:ext cx="26924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Cache key by position/resources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Avoids repeated spend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Supports rematch when inputs change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CC298DB-BCDD-EF4E-1BE0-EC7879EE3EF5}"/>
              </a:ext>
            </a:extLst>
          </p:cNvPr>
          <p:cNvSpPr/>
          <p:nvPr/>
        </p:nvSpPr>
        <p:spPr>
          <a:xfrm>
            <a:off x="1841500" y="5181600"/>
            <a:ext cx="8509000" cy="5715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600" b="1">
                <a:solidFill>
                  <a:srgbClr val="0F766E"/>
                </a:solidFill>
                <a:latin typeface="Aptos" panose="020B0004020202020204" pitchFamily="34" charset="0"/>
              </a:rPr>
              <a:t>Use deterministic scoring for scale, then AI for nuanced shortlists and decision support.</a:t>
            </a:r>
            <a:endParaRPr lang="en-IN" sz="1600" b="1">
              <a:solidFill>
                <a:srgbClr val="0F766E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E5967F-39F8-46E9-3AA7-49ED44B96FCA}"/>
              </a:ext>
            </a:extLst>
          </p:cNvPr>
          <p:cNvSpPr/>
          <p:nvPr/>
        </p:nvSpPr>
        <p:spPr>
          <a:xfrm>
            <a:off x="533400" y="6426200"/>
            <a:ext cx="111125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675E92-D678-63D3-EE15-1C98A230CEBA}"/>
              </a:ext>
            </a:extLst>
          </p:cNvPr>
          <p:cNvSpPr txBox="1"/>
          <p:nvPr/>
        </p:nvSpPr>
        <p:spPr>
          <a:xfrm>
            <a:off x="533400" y="6477000"/>
            <a:ext cx="292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TalentIQ dashboard showcase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DC772B-2AA2-6EDA-55F1-9599721582F0}"/>
              </a:ext>
            </a:extLst>
          </p:cNvPr>
          <p:cNvSpPr txBox="1"/>
          <p:nvPr/>
        </p:nvSpPr>
        <p:spPr>
          <a:xfrm>
            <a:off x="10922000" y="6477000"/>
            <a:ext cx="6985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84807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72663C-916B-7B6F-9741-678063F97B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8177C7-6CD2-04BF-9967-9E73DA96F311}"/>
              </a:ext>
            </a:extLst>
          </p:cNvPr>
          <p:cNvSpPr txBox="1"/>
          <p:nvPr/>
        </p:nvSpPr>
        <p:spPr>
          <a:xfrm>
            <a:off x="533400" y="304800"/>
            <a:ext cx="3048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 b="1">
                <a:solidFill>
                  <a:srgbClr val="0F766E"/>
                </a:solidFill>
                <a:latin typeface="Aptos" panose="020B0004020202020204" pitchFamily="34" charset="0"/>
              </a:rPr>
              <a:t>RESOURCE SEARCH AND HISTORY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0EDDE-C037-1B9A-D613-A4384F4B31B2}"/>
              </a:ext>
            </a:extLst>
          </p:cNvPr>
          <p:cNvSpPr txBox="1"/>
          <p:nvPr/>
        </p:nvSpPr>
        <p:spPr>
          <a:xfrm>
            <a:off x="533400" y="571500"/>
            <a:ext cx="8255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Aptos" panose="020B0004020202020204" pitchFamily="34" charset="0"/>
              </a:rPr>
              <a:t>A faster way to answer staffing follow-up questions</a:t>
            </a:r>
            <a:endParaRPr lang="en-IN" sz="24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B80D63-6570-0814-9445-45537F6354ED}"/>
              </a:ext>
            </a:extLst>
          </p:cNvPr>
          <p:cNvSpPr txBox="1"/>
          <p:nvPr/>
        </p:nvSpPr>
        <p:spPr>
          <a:xfrm>
            <a:off x="558800" y="1041400"/>
            <a:ext cx="8255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Search resources and inspect employee project history across uploaded MSD months.</a:t>
            </a:r>
            <a:endParaRPr lang="en-IN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71C5C-2A6E-841E-A2B3-D1AB92F0B890}"/>
              </a:ext>
            </a:extLst>
          </p:cNvPr>
          <p:cNvSpPr txBox="1"/>
          <p:nvPr/>
        </p:nvSpPr>
        <p:spPr>
          <a:xfrm>
            <a:off x="10033000" y="431800"/>
            <a:ext cx="15875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1600" b="1">
                <a:solidFill>
                  <a:srgbClr val="0F766E"/>
                </a:solidFill>
                <a:latin typeface="Aptos" panose="020B0004020202020204" pitchFamily="34" charset="0"/>
              </a:rPr>
              <a:t>TalentIQ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15C59C4-46E5-1D88-4185-0BCE477FB197}"/>
              </a:ext>
            </a:extLst>
          </p:cNvPr>
          <p:cNvSpPr/>
          <p:nvPr/>
        </p:nvSpPr>
        <p:spPr>
          <a:xfrm>
            <a:off x="952500" y="1714500"/>
            <a:ext cx="46990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2E40C-C10C-3652-5006-32588CA025CC}"/>
              </a:ext>
            </a:extLst>
          </p:cNvPr>
          <p:cNvSpPr txBox="1"/>
          <p:nvPr/>
        </p:nvSpPr>
        <p:spPr>
          <a:xfrm>
            <a:off x="1130300" y="1866900"/>
            <a:ext cx="4343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Search capabilities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A884F6-CE51-F2BF-9019-CF5030B898DA}"/>
              </a:ext>
            </a:extLst>
          </p:cNvPr>
          <p:cNvSpPr txBox="1"/>
          <p:nvPr/>
        </p:nvSpPr>
        <p:spPr>
          <a:xfrm>
            <a:off x="1130300" y="2286000"/>
            <a:ext cx="43434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Search all MSD resources by employee, skill, designation, client, or project.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Inspect current allocation details, grade, LOB, vertical, and location.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Reconstruct project history across uploaded months.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7A9200-5876-1624-71BA-6D956CC93D90}"/>
              </a:ext>
            </a:extLst>
          </p:cNvPr>
          <p:cNvSpPr/>
          <p:nvPr/>
        </p:nvSpPr>
        <p:spPr>
          <a:xfrm>
            <a:off x="6540500" y="1714500"/>
            <a:ext cx="4699000" cy="23495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A66788-C429-5B11-F800-ACD145C61F9D}"/>
              </a:ext>
            </a:extLst>
          </p:cNvPr>
          <p:cNvSpPr txBox="1"/>
          <p:nvPr/>
        </p:nvSpPr>
        <p:spPr>
          <a:xfrm>
            <a:off x="6718300" y="1866900"/>
            <a:ext cx="4343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Operating questions answered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6AC87E-BBFC-8E5E-368B-5E54C7880417}"/>
              </a:ext>
            </a:extLst>
          </p:cNvPr>
          <p:cNvSpPr txBox="1"/>
          <p:nvPr/>
        </p:nvSpPr>
        <p:spPr>
          <a:xfrm>
            <a:off x="6718300" y="2286000"/>
            <a:ext cx="43434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Does this resource have relevant client experience?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What has the employee worked on recently?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Can the resource be shortlisted for an open demand?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89255B-D2CB-6B3D-1195-E2BA6C4CA7B6}"/>
              </a:ext>
            </a:extLst>
          </p:cNvPr>
          <p:cNvSpPr/>
          <p:nvPr/>
        </p:nvSpPr>
        <p:spPr>
          <a:xfrm>
            <a:off x="1524000" y="4953000"/>
            <a:ext cx="9144000" cy="57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700" b="1">
                <a:solidFill>
                  <a:srgbClr val="0F172A"/>
                </a:solidFill>
                <a:latin typeface="Aptos" panose="020B0004020202020204" pitchFamily="34" charset="0"/>
              </a:rPr>
              <a:t>Practical workflow: search, inspect history, shortlist, match, export.</a:t>
            </a:r>
            <a:endParaRPr lang="en-IN" sz="17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532442-5CCD-80FC-210C-C84FDB3CF1B2}"/>
              </a:ext>
            </a:extLst>
          </p:cNvPr>
          <p:cNvSpPr/>
          <p:nvPr/>
        </p:nvSpPr>
        <p:spPr>
          <a:xfrm>
            <a:off x="533400" y="6426200"/>
            <a:ext cx="111125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29EA9C-0799-5D2D-9E1C-4792A63EF6B4}"/>
              </a:ext>
            </a:extLst>
          </p:cNvPr>
          <p:cNvSpPr txBox="1"/>
          <p:nvPr/>
        </p:nvSpPr>
        <p:spPr>
          <a:xfrm>
            <a:off x="533400" y="6477000"/>
            <a:ext cx="292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TalentIQ dashboard showcase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27191F-48EF-7910-6316-049E07BC6866}"/>
              </a:ext>
            </a:extLst>
          </p:cNvPr>
          <p:cNvSpPr txBox="1"/>
          <p:nvPr/>
        </p:nvSpPr>
        <p:spPr>
          <a:xfrm>
            <a:off x="10922000" y="6477000"/>
            <a:ext cx="6985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91982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863001-7FE3-F245-91B9-6346EBCE5F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C1AF9E-BD1A-81B9-1A35-E33312E50026}"/>
              </a:ext>
            </a:extLst>
          </p:cNvPr>
          <p:cNvSpPr txBox="1"/>
          <p:nvPr/>
        </p:nvSpPr>
        <p:spPr>
          <a:xfrm>
            <a:off x="533400" y="304800"/>
            <a:ext cx="3048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 b="1">
                <a:solidFill>
                  <a:srgbClr val="0F766E"/>
                </a:solidFill>
                <a:latin typeface="Aptos" panose="020B0004020202020204" pitchFamily="34" charset="0"/>
              </a:rPr>
              <a:t>ARCHITECTURE AND PORTABILITY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8F956-2AE2-F07E-B5A2-6DF00E877704}"/>
              </a:ext>
            </a:extLst>
          </p:cNvPr>
          <p:cNvSpPr txBox="1"/>
          <p:nvPr/>
        </p:nvSpPr>
        <p:spPr>
          <a:xfrm>
            <a:off x="533400" y="571500"/>
            <a:ext cx="8255000" cy="78996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Aptos" panose="020B0004020202020204" pitchFamily="34" charset="0"/>
              </a:rPr>
              <a:t>Designed as a local company application with a reliable setup path</a:t>
            </a:r>
            <a:endParaRPr lang="en-IN" sz="24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1DB5E-31C6-5B4D-64FD-993B8F5B308A}"/>
              </a:ext>
            </a:extLst>
          </p:cNvPr>
          <p:cNvSpPr txBox="1"/>
          <p:nvPr/>
        </p:nvSpPr>
        <p:spPr>
          <a:xfrm>
            <a:off x="558800" y="1041400"/>
            <a:ext cx="8255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The start and setup scripts make the project transferable to another Windows machine.</a:t>
            </a:r>
            <a:endParaRPr lang="en-IN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B7646-5740-79CE-1C10-71ABD59848CE}"/>
              </a:ext>
            </a:extLst>
          </p:cNvPr>
          <p:cNvSpPr txBox="1"/>
          <p:nvPr/>
        </p:nvSpPr>
        <p:spPr>
          <a:xfrm>
            <a:off x="10033000" y="431800"/>
            <a:ext cx="15875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1600" b="1">
                <a:solidFill>
                  <a:srgbClr val="0F766E"/>
                </a:solidFill>
                <a:latin typeface="Aptos" panose="020B0004020202020204" pitchFamily="34" charset="0"/>
              </a:rPr>
              <a:t>TalentIQ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9D0F57-5D4A-D6DA-A06F-09BB1F288B2C}"/>
              </a:ext>
            </a:extLst>
          </p:cNvPr>
          <p:cNvSpPr/>
          <p:nvPr/>
        </p:nvSpPr>
        <p:spPr>
          <a:xfrm>
            <a:off x="1143000" y="1676400"/>
            <a:ext cx="2159000" cy="787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IN" sz="1100" b="1">
                <a:solidFill>
                  <a:srgbClr val="1E293B"/>
                </a:solidFill>
                <a:latin typeface="Aptos" panose="020B0004020202020204" pitchFamily="34" charset="0"/>
              </a:rPr>
              <a:t>React UI</a:t>
            </a:r>
          </a:p>
          <a:p>
            <a:pPr algn="ctr"/>
            <a:r>
              <a:rPr lang="en-IN" sz="1100" b="1">
                <a:solidFill>
                  <a:srgbClr val="1E293B"/>
                </a:solidFill>
                <a:latin typeface="Aptos" panose="020B0004020202020204" pitchFamily="34" charset="0"/>
              </a:rPr>
              <a:t>localhost:5173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827605-BC02-38A9-962F-DAC049F2D27D}"/>
              </a:ext>
            </a:extLst>
          </p:cNvPr>
          <p:cNvSpPr/>
          <p:nvPr/>
        </p:nvSpPr>
        <p:spPr>
          <a:xfrm>
            <a:off x="3937000" y="1676400"/>
            <a:ext cx="2159000" cy="7874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IN" sz="1100" b="1">
                <a:solidFill>
                  <a:srgbClr val="1E293B"/>
                </a:solidFill>
                <a:latin typeface="Aptos" panose="020B0004020202020204" pitchFamily="34" charset="0"/>
              </a:rPr>
              <a:t>FastAPI</a:t>
            </a:r>
          </a:p>
          <a:p>
            <a:pPr algn="ctr"/>
            <a:r>
              <a:rPr lang="en-IN" sz="1100" b="1">
                <a:solidFill>
                  <a:srgbClr val="1E293B"/>
                </a:solidFill>
                <a:latin typeface="Aptos" panose="020B0004020202020204" pitchFamily="34" charset="0"/>
              </a:rPr>
              <a:t>localhost:8000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27AD14D-F166-3B67-710F-6F6758A1E9D7}"/>
              </a:ext>
            </a:extLst>
          </p:cNvPr>
          <p:cNvSpPr/>
          <p:nvPr/>
        </p:nvSpPr>
        <p:spPr>
          <a:xfrm>
            <a:off x="6731000" y="1676400"/>
            <a:ext cx="2159000" cy="787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IN" sz="1100" b="1">
                <a:solidFill>
                  <a:srgbClr val="1E293B"/>
                </a:solidFill>
                <a:latin typeface="Aptos" panose="020B0004020202020204" pitchFamily="34" charset="0"/>
              </a:rPr>
              <a:t>PostgreSQL</a:t>
            </a:r>
          </a:p>
          <a:p>
            <a:pPr algn="ctr"/>
            <a:r>
              <a:rPr lang="en-IN" sz="1100" b="1">
                <a:solidFill>
                  <a:srgbClr val="1E293B"/>
                </a:solidFill>
                <a:latin typeface="Aptos" panose="020B0004020202020204" pitchFamily="34" charset="0"/>
              </a:rPr>
              <a:t>talentiq DB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68697A-B9BC-4D0A-367A-31A80CC8DC2B}"/>
              </a:ext>
            </a:extLst>
          </p:cNvPr>
          <p:cNvSpPr/>
          <p:nvPr/>
        </p:nvSpPr>
        <p:spPr>
          <a:xfrm>
            <a:off x="952500" y="3429000"/>
            <a:ext cx="4699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BD32F7-CE00-87B8-D0F6-124E74B9D76F}"/>
              </a:ext>
            </a:extLst>
          </p:cNvPr>
          <p:cNvSpPr txBox="1"/>
          <p:nvPr/>
        </p:nvSpPr>
        <p:spPr>
          <a:xfrm>
            <a:off x="1130300" y="3581400"/>
            <a:ext cx="4343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Portable installer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94D2CE-5DD4-3A49-B9EC-EFE1A00CA8D6}"/>
              </a:ext>
            </a:extLst>
          </p:cNvPr>
          <p:cNvSpPr txBox="1"/>
          <p:nvPr/>
        </p:nvSpPr>
        <p:spPr>
          <a:xfrm>
            <a:off x="1130300" y="4000500"/>
            <a:ext cx="43434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000">
                <a:solidFill>
                  <a:srgbClr val="475569"/>
                </a:solidFill>
                <a:latin typeface="Aptos" panose="020B0004020202020204" pitchFamily="34" charset="0"/>
              </a:rPr>
              <a:t>- setup.bat configures DATABASE_URL and initializes tables.</a:t>
            </a:r>
          </a:p>
          <a:p>
            <a:r>
              <a:rPr lang="en-IN" sz="1000">
                <a:solidFill>
                  <a:srgbClr val="475569"/>
                </a:solidFill>
                <a:latin typeface="Aptos" panose="020B0004020202020204" pitchFamily="34" charset="0"/>
              </a:rPr>
              <a:t>- start.bat creates venv, installs dependencies, installs npm packages, and launches services.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957F2A2-78C7-64C0-2D7F-29D02C55D76A}"/>
              </a:ext>
            </a:extLst>
          </p:cNvPr>
          <p:cNvSpPr/>
          <p:nvPr/>
        </p:nvSpPr>
        <p:spPr>
          <a:xfrm>
            <a:off x="6540500" y="3429000"/>
            <a:ext cx="4699000" cy="1905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4A9C32-9F2E-664B-60F7-511E3C90568B}"/>
              </a:ext>
            </a:extLst>
          </p:cNvPr>
          <p:cNvSpPr txBox="1"/>
          <p:nvPr/>
        </p:nvSpPr>
        <p:spPr>
          <a:xfrm>
            <a:off x="6718300" y="3581400"/>
            <a:ext cx="4343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Database tables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C8C26C-DE3F-F048-4A36-A731340B6BFF}"/>
              </a:ext>
            </a:extLst>
          </p:cNvPr>
          <p:cNvSpPr txBox="1"/>
          <p:nvPr/>
        </p:nvSpPr>
        <p:spPr>
          <a:xfrm>
            <a:off x="6718300" y="4000500"/>
            <a:ext cx="43434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requisitions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msd_allocations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bench_employee_ids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ai_match_cache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A057D3-175B-40F8-91D1-4C6BCE0B1CD8}"/>
              </a:ext>
            </a:extLst>
          </p:cNvPr>
          <p:cNvSpPr/>
          <p:nvPr/>
        </p:nvSpPr>
        <p:spPr>
          <a:xfrm>
            <a:off x="533400" y="6426200"/>
            <a:ext cx="111125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1962D4-6F4C-A388-4FF9-409A357A9B8A}"/>
              </a:ext>
            </a:extLst>
          </p:cNvPr>
          <p:cNvSpPr txBox="1"/>
          <p:nvPr/>
        </p:nvSpPr>
        <p:spPr>
          <a:xfrm>
            <a:off x="533400" y="6477000"/>
            <a:ext cx="292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TalentIQ dashboard showcase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004317-07AE-81EE-4CEF-3A65DF84EBFD}"/>
              </a:ext>
            </a:extLst>
          </p:cNvPr>
          <p:cNvSpPr txBox="1"/>
          <p:nvPr/>
        </p:nvSpPr>
        <p:spPr>
          <a:xfrm>
            <a:off x="10922000" y="6477000"/>
            <a:ext cx="6985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9818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1E8E04-3E7B-F89F-A961-D4D8A5902F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03D6EC-8CA1-7458-521E-DF8949F8BAF0}"/>
              </a:ext>
            </a:extLst>
          </p:cNvPr>
          <p:cNvSpPr txBox="1"/>
          <p:nvPr/>
        </p:nvSpPr>
        <p:spPr>
          <a:xfrm>
            <a:off x="533400" y="304800"/>
            <a:ext cx="3048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 b="1">
                <a:solidFill>
                  <a:srgbClr val="0F766E"/>
                </a:solidFill>
                <a:latin typeface="Aptos" panose="020B0004020202020204" pitchFamily="34" charset="0"/>
              </a:rPr>
              <a:t>BUSINESS IMPACT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46ACA2-C506-7797-C500-54BF14F101DA}"/>
              </a:ext>
            </a:extLst>
          </p:cNvPr>
          <p:cNvSpPr txBox="1"/>
          <p:nvPr/>
        </p:nvSpPr>
        <p:spPr>
          <a:xfrm>
            <a:off x="533400" y="571500"/>
            <a:ext cx="8255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Aptos" panose="020B0004020202020204" pitchFamily="34" charset="0"/>
              </a:rPr>
              <a:t>What TalentIQ changes for the company</a:t>
            </a:r>
            <a:endParaRPr lang="en-IN" sz="24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8EDD9-2754-CEC9-B291-CF2DBDD0B756}"/>
              </a:ext>
            </a:extLst>
          </p:cNvPr>
          <p:cNvSpPr txBox="1"/>
          <p:nvPr/>
        </p:nvSpPr>
        <p:spPr>
          <a:xfrm>
            <a:off x="558800" y="1041400"/>
            <a:ext cx="8255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A shared operating rhythm for demand, supply, matching, and follow-through.</a:t>
            </a:r>
            <a:endParaRPr lang="en-IN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C48813-E260-6533-AA75-C0905D002A4F}"/>
              </a:ext>
            </a:extLst>
          </p:cNvPr>
          <p:cNvSpPr txBox="1"/>
          <p:nvPr/>
        </p:nvSpPr>
        <p:spPr>
          <a:xfrm>
            <a:off x="10033000" y="431800"/>
            <a:ext cx="15875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1600" b="1">
                <a:solidFill>
                  <a:srgbClr val="0F766E"/>
                </a:solidFill>
                <a:latin typeface="Aptos" panose="020B0004020202020204" pitchFamily="34" charset="0"/>
              </a:rPr>
              <a:t>TalentIQ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A008E8-4DDB-BA73-3C79-0E8C3039DA6F}"/>
              </a:ext>
            </a:extLst>
          </p:cNvPr>
          <p:cNvSpPr/>
          <p:nvPr/>
        </p:nvSpPr>
        <p:spPr>
          <a:xfrm>
            <a:off x="952500" y="1625600"/>
            <a:ext cx="4699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614468-C11C-4268-CFB7-AB9A1B69F9EA}"/>
              </a:ext>
            </a:extLst>
          </p:cNvPr>
          <p:cNvSpPr txBox="1"/>
          <p:nvPr/>
        </p:nvSpPr>
        <p:spPr>
          <a:xfrm>
            <a:off x="1130300" y="1778000"/>
            <a:ext cx="4343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Leadership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830150-E92B-AC51-42FA-16769E0E4690}"/>
              </a:ext>
            </a:extLst>
          </p:cNvPr>
          <p:cNvSpPr txBox="1"/>
          <p:nvPr/>
        </p:nvSpPr>
        <p:spPr>
          <a:xfrm>
            <a:off x="1130300" y="2197100"/>
            <a:ext cx="43434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Portfolio visibility into open demand, aging, client concentration, and staffing risk.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74947B-ABBA-74D7-560B-45F791EDFD5E}"/>
              </a:ext>
            </a:extLst>
          </p:cNvPr>
          <p:cNvSpPr/>
          <p:nvPr/>
        </p:nvSpPr>
        <p:spPr>
          <a:xfrm>
            <a:off x="6540500" y="1625600"/>
            <a:ext cx="4699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F94D9D-1C3F-163A-A84A-BF3E86257849}"/>
              </a:ext>
            </a:extLst>
          </p:cNvPr>
          <p:cNvSpPr txBox="1"/>
          <p:nvPr/>
        </p:nvSpPr>
        <p:spPr>
          <a:xfrm>
            <a:off x="6718300" y="1778000"/>
            <a:ext cx="4343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Talent Acquisition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5685A7-BCE6-4045-3E01-8DB117FCCF90}"/>
              </a:ext>
            </a:extLst>
          </p:cNvPr>
          <p:cNvSpPr txBox="1"/>
          <p:nvPr/>
        </p:nvSpPr>
        <p:spPr>
          <a:xfrm>
            <a:off x="6718300" y="2197100"/>
            <a:ext cx="43434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Cleaner upload governance, faster pipeline review, and LOB-filtered requisition intake.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E1CBCD2-1C10-7889-E1F7-3D914C88A3B8}"/>
              </a:ext>
            </a:extLst>
          </p:cNvPr>
          <p:cNvSpPr/>
          <p:nvPr/>
        </p:nvSpPr>
        <p:spPr>
          <a:xfrm>
            <a:off x="952500" y="3403600"/>
            <a:ext cx="4699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C6C300-C898-4548-C737-68F9F40A50FC}"/>
              </a:ext>
            </a:extLst>
          </p:cNvPr>
          <p:cNvSpPr txBox="1"/>
          <p:nvPr/>
        </p:nvSpPr>
        <p:spPr>
          <a:xfrm>
            <a:off x="1130300" y="3556000"/>
            <a:ext cx="4343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Delivery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1E36B0-B136-DC51-03B8-CACCD665B12A}"/>
              </a:ext>
            </a:extLst>
          </p:cNvPr>
          <p:cNvSpPr txBox="1"/>
          <p:nvPr/>
        </p:nvSpPr>
        <p:spPr>
          <a:xfrm>
            <a:off x="1130300" y="3975100"/>
            <a:ext cx="43434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Better internal candidate discovery before escalating external hiring.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769A3F9-68DC-73E7-F8E7-EDA308E80680}"/>
              </a:ext>
            </a:extLst>
          </p:cNvPr>
          <p:cNvSpPr/>
          <p:nvPr/>
        </p:nvSpPr>
        <p:spPr>
          <a:xfrm>
            <a:off x="6540500" y="3403600"/>
            <a:ext cx="4699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E0545D-56F7-BEEC-F168-4B003D5CFBFB}"/>
              </a:ext>
            </a:extLst>
          </p:cNvPr>
          <p:cNvSpPr txBox="1"/>
          <p:nvPr/>
        </p:nvSpPr>
        <p:spPr>
          <a:xfrm>
            <a:off x="6718300" y="3556000"/>
            <a:ext cx="4343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Resource Management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83CA8E-4C49-F221-661A-B29091DE8054}"/>
              </a:ext>
            </a:extLst>
          </p:cNvPr>
          <p:cNvSpPr txBox="1"/>
          <p:nvPr/>
        </p:nvSpPr>
        <p:spPr>
          <a:xfrm>
            <a:off x="6718300" y="3975100"/>
            <a:ext cx="43434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Managed bench inventory, manual corrections, exports, and effective-date controls.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F985A53-C8EC-B708-679F-B2DDC3DC0BBB}"/>
              </a:ext>
            </a:extLst>
          </p:cNvPr>
          <p:cNvSpPr/>
          <p:nvPr/>
        </p:nvSpPr>
        <p:spPr>
          <a:xfrm>
            <a:off x="1270000" y="5461000"/>
            <a:ext cx="9652000" cy="5715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400" b="1">
                <a:solidFill>
                  <a:srgbClr val="0F172A"/>
                </a:solidFill>
                <a:latin typeface="Aptos" panose="020B0004020202020204" pitchFamily="34" charset="0"/>
              </a:rPr>
              <a:t>Recommended demo storyline: Upload data -&gt; review dashboard -&gt; inspect bench resources -&gt; run skill mapping -&gt; use AI shortlist -&gt; export actions.</a:t>
            </a:r>
            <a:endParaRPr lang="en-IN" sz="14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D3558D-2B27-5FBC-B794-8CAF3CAF1F89}"/>
              </a:ext>
            </a:extLst>
          </p:cNvPr>
          <p:cNvSpPr/>
          <p:nvPr/>
        </p:nvSpPr>
        <p:spPr>
          <a:xfrm>
            <a:off x="533400" y="6426200"/>
            <a:ext cx="111125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AAB844-7C25-41B1-DB6B-C32A6A509E7B}"/>
              </a:ext>
            </a:extLst>
          </p:cNvPr>
          <p:cNvSpPr txBox="1"/>
          <p:nvPr/>
        </p:nvSpPr>
        <p:spPr>
          <a:xfrm>
            <a:off x="533400" y="6477000"/>
            <a:ext cx="2921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TalentIQ dashboard showcase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D1E375-2758-094B-69E5-E4BC93D3F36C}"/>
              </a:ext>
            </a:extLst>
          </p:cNvPr>
          <p:cNvSpPr txBox="1"/>
          <p:nvPr/>
        </p:nvSpPr>
        <p:spPr>
          <a:xfrm>
            <a:off x="10922000" y="6477000"/>
            <a:ext cx="6985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N" sz="700">
                <a:solidFill>
                  <a:srgbClr val="64748B"/>
                </a:solidFill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347983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454DBC-8ABA-8DEC-931C-DF81D0AFDA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66E15C-3661-2FC9-A0A8-D8D4C91551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52722-4B18-EE08-9A9C-5963AE2AF0F3}"/>
              </a:ext>
            </a:extLst>
          </p:cNvPr>
          <p:cNvSpPr txBox="1"/>
          <p:nvPr/>
        </p:nvSpPr>
        <p:spPr>
          <a:xfrm>
            <a:off x="762000" y="787400"/>
            <a:ext cx="2794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800" b="1">
                <a:solidFill>
                  <a:srgbClr val="99F6E4"/>
                </a:solidFill>
                <a:latin typeface="Aptos" panose="020B0004020202020204" pitchFamily="34" charset="0"/>
              </a:rPr>
              <a:t>CLOSING MESSAGE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BD81A-E317-B7F7-DFF9-2CF70752A12B}"/>
              </a:ext>
            </a:extLst>
          </p:cNvPr>
          <p:cNvSpPr txBox="1"/>
          <p:nvPr/>
        </p:nvSpPr>
        <p:spPr>
          <a:xfrm>
            <a:off x="762000" y="1333500"/>
            <a:ext cx="8890000" cy="91307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TalentIQ is a staffing decision system, not just a dashboard.</a:t>
            </a:r>
            <a:endParaRPr lang="en-IN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A1429-3752-0E32-D170-4F06827B9AC8}"/>
              </a:ext>
            </a:extLst>
          </p:cNvPr>
          <p:cNvSpPr txBox="1"/>
          <p:nvPr/>
        </p:nvSpPr>
        <p:spPr>
          <a:xfrm>
            <a:off x="812800" y="2476500"/>
            <a:ext cx="7620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600">
                <a:solidFill>
                  <a:srgbClr val="CBD5E1"/>
                </a:solidFill>
                <a:latin typeface="Aptos" panose="020B0004020202020204" pitchFamily="34" charset="0"/>
              </a:rPr>
              <a:t>It connects company demand, available internal supply, skill evidence, and governed operations into one repeatable workflow.</a:t>
            </a:r>
            <a:endParaRPr lang="en-IN" sz="1600">
              <a:solidFill>
                <a:srgbClr val="CBD5E1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452DFF-E160-CF49-4BC2-47FA10C98255}"/>
              </a:ext>
            </a:extLst>
          </p:cNvPr>
          <p:cNvSpPr/>
          <p:nvPr/>
        </p:nvSpPr>
        <p:spPr>
          <a:xfrm>
            <a:off x="952500" y="3835400"/>
            <a:ext cx="4572000" cy="1651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14E211-EBB0-5DC0-AF26-B441A034E50C}"/>
              </a:ext>
            </a:extLst>
          </p:cNvPr>
          <p:cNvSpPr txBox="1"/>
          <p:nvPr/>
        </p:nvSpPr>
        <p:spPr>
          <a:xfrm>
            <a:off x="1130300" y="3987800"/>
            <a:ext cx="4216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Aptos" panose="020B0004020202020204" pitchFamily="34" charset="0"/>
              </a:rPr>
              <a:t>Core promise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6AFE89-2308-0ACF-3D41-FD1E6012A9C4}"/>
              </a:ext>
            </a:extLst>
          </p:cNvPr>
          <p:cNvSpPr txBox="1"/>
          <p:nvPr/>
        </p:nvSpPr>
        <p:spPr>
          <a:xfrm>
            <a:off x="1130300" y="4406900"/>
            <a:ext cx="42164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Reduce manual reconciliation.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Prioritize aging and high-value demand.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Redeploy internal talent faster.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Create a defensible weekly staffing rhythm.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EA158C-E8BB-6DE1-B79B-1085EC0FBD65}"/>
              </a:ext>
            </a:extLst>
          </p:cNvPr>
          <p:cNvSpPr/>
          <p:nvPr/>
        </p:nvSpPr>
        <p:spPr>
          <a:xfrm>
            <a:off x="7302500" y="4089400"/>
            <a:ext cx="2921000" cy="1092200"/>
          </a:xfrm>
          <a:prstGeom prst="roundRect">
            <a:avLst/>
          </a:prstGeom>
          <a:solidFill>
            <a:srgbClr val="123D3A"/>
          </a:solidFill>
          <a:ln w="12700">
            <a:solidFill>
              <a:srgbClr val="2DD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600" b="1">
                <a:solidFill>
                  <a:srgbClr val="CCFBF1"/>
                </a:solidFill>
                <a:latin typeface="Aptos" panose="020B0004020202020204" pitchFamily="34" charset="0"/>
              </a:rPr>
              <a:t>Next step:</a:t>
            </a:r>
          </a:p>
          <a:p>
            <a:pPr algn="ctr"/>
            <a:r>
              <a:rPr lang="en-US" sz="1600" b="1">
                <a:solidFill>
                  <a:srgbClr val="CCFBF1"/>
                </a:solidFill>
                <a:latin typeface="Aptos" panose="020B0004020202020204" pitchFamily="34" charset="0"/>
              </a:rPr>
              <a:t>Demo with live data and confirm rollout owners.</a:t>
            </a:r>
            <a:endParaRPr lang="en-IN" sz="1600" b="1">
              <a:solidFill>
                <a:srgbClr val="CCFBF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19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1253</Words>
  <Application>Microsoft Office PowerPoint</Application>
  <PresentationFormat>Widescreen</PresentationFormat>
  <Paragraphs>221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Sundeep Choudhury</dc:creator>
  <cp:lastModifiedBy>Sundeep Choudhury</cp:lastModifiedBy>
  <cp:revision>3</cp:revision>
  <dcterms:created xsi:type="dcterms:W3CDTF">2026-06-29T11:04:42Z</dcterms:created>
  <dcterms:modified xsi:type="dcterms:W3CDTF">2026-06-30T12:27:50Z</dcterms:modified>
</cp:coreProperties>
</file>