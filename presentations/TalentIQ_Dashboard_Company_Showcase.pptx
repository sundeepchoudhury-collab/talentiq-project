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wide"/>
  <p:notesSz cx="6858000" cy="9144000"/>
  <p:defaultTextStyle>
    <a:defPPr>
      <a:defRPr lang="en-US"/>
    </a:defPPr>
    <a:lvl1pPr marL="0" indent="0">
      <a:defRPr sz="1800" kern="1200">
        <a:latin typeface="Aptos"/>
      </a:defRPr>
    </a:lvl1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 b="1">
          <a:latin typeface="Aptos Display"/>
        </a:defRPr>
      </a:lvl1pPr>
    </p:titleStyle>
    <p:bodyStyle>
      <a:lvl1pPr>
        <a:defRPr sz="1800">
          <a:latin typeface="Aptos"/>
        </a:defRPr>
      </a:lvl1pPr>
    </p:bodyStyle>
    <p:otherStyle>
      <a:lvl1pPr>
        <a:defRPr sz="1800">
          <a:latin typeface="Apto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3840480" y="0"/>
            <a:ext cx="7315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85800" y="749808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CCFBF1"/>
                </a:solidFill>
                <a:latin typeface="Aptos"/>
              </a:rPr>
              <a:t>INTERNAL PRODUCT SHOWCASE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67512" y="1234440"/>
            <a:ext cx="5303520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4500" b="1">
                <a:solidFill>
                  <a:srgbClr val="FFFFFF"/>
                </a:solidFill>
                <a:latin typeface="Aptos"/>
              </a:rPr>
              <a:t>TalentIQ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13232" y="2057400"/>
            <a:ext cx="48463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000" b="1">
                <a:solidFill>
                  <a:srgbClr val="CCFBF1"/>
                </a:solidFill>
                <a:latin typeface="Aptos"/>
              </a:rPr>
              <a:t>Recruitment intelligence and bench-to-demand matching for delivery teams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617720" y="914400"/>
            <a:ext cx="63093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700" b="1">
                <a:solidFill>
                  <a:srgbClr val="FFFFFF"/>
                </a:solidFill>
                <a:latin typeface="Aptos"/>
              </a:rPr>
              <a:t>One dashboard for staffing demand, bench supply, skill fit, and operational follow-through.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663440" y="2057400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500">
                <a:solidFill>
                  <a:srgbClr val="CBD5E1"/>
                </a:solidFill>
                <a:latin typeface="Aptos"/>
              </a:rPr>
              <a:t>Built for company leaders, Talent Acquisition, Delivery, Resource Management, and account teams who need a shared source of truth.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645152" y="2926080"/>
            <a:ext cx="1737360" cy="292608"/>
          </a:xfrm>
          <a:prstGeom prst="roundRect">
            <a:avLst/>
          </a:prstGeom>
          <a:solidFill>
            <a:srgbClr val="123D3A"/>
          </a:solidFill>
          <a:ln w="9525">
            <a:solidFill>
              <a:srgbClr val="2DD4BF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000" b="1">
                <a:solidFill>
                  <a:srgbClr val="CCFBF1"/>
                </a:solidFill>
                <a:latin typeface="Aptos"/>
              </a:rPr>
              <a:t>Dashboard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611112" y="2926080"/>
            <a:ext cx="1737360" cy="292608"/>
          </a:xfrm>
          <a:prstGeom prst="roundRect">
            <a:avLst/>
          </a:prstGeom>
          <a:solidFill>
            <a:srgbClr val="123D3A"/>
          </a:solidFill>
          <a:ln w="9525">
            <a:solidFill>
              <a:srgbClr val="2DD4BF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000" b="1">
                <a:solidFill>
                  <a:srgbClr val="CCFBF1"/>
                </a:solidFill>
                <a:latin typeface="Aptos"/>
              </a:rPr>
              <a:t>Skill Mapping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577072" y="2926080"/>
            <a:ext cx="1737360" cy="292608"/>
          </a:xfrm>
          <a:prstGeom prst="roundRect">
            <a:avLst/>
          </a:prstGeom>
          <a:solidFill>
            <a:srgbClr val="123D3A"/>
          </a:solidFill>
          <a:ln w="9525">
            <a:solidFill>
              <a:srgbClr val="2DD4BF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000" b="1">
                <a:solidFill>
                  <a:srgbClr val="CCFBF1"/>
                </a:solidFill>
                <a:latin typeface="Aptos"/>
              </a:rPr>
              <a:t>Bench Resources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645152" y="3429000"/>
            <a:ext cx="1737360" cy="292608"/>
          </a:xfrm>
          <a:prstGeom prst="roundRect">
            <a:avLst/>
          </a:prstGeom>
          <a:solidFill>
            <a:srgbClr val="123D3A"/>
          </a:solidFill>
          <a:ln w="9525">
            <a:solidFill>
              <a:srgbClr val="2DD4BF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000" b="1">
                <a:solidFill>
                  <a:srgbClr val="CCFBF1"/>
                </a:solidFill>
                <a:latin typeface="Aptos"/>
              </a:rPr>
              <a:t>AI Matching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611112" y="3429000"/>
            <a:ext cx="1737360" cy="292608"/>
          </a:xfrm>
          <a:prstGeom prst="roundRect">
            <a:avLst/>
          </a:prstGeom>
          <a:solidFill>
            <a:srgbClr val="123D3A"/>
          </a:solidFill>
          <a:ln w="9525">
            <a:solidFill>
              <a:srgbClr val="2DD4BF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000" b="1">
                <a:solidFill>
                  <a:srgbClr val="CCFBF1"/>
                </a:solidFill>
                <a:latin typeface="Aptos"/>
              </a:rPr>
              <a:t>Resource Search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4617720" y="4160520"/>
            <a:ext cx="16002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6" name="Shape 16"/>
          <p:cNvSpPr/>
          <p:nvPr/>
        </p:nvSpPr>
        <p:spPr>
          <a:xfrm>
            <a:off x="4617720" y="4160520"/>
            <a:ext cx="160020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4727448" y="4297680"/>
            <a:ext cx="1380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OPEN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727448" y="4599431"/>
            <a:ext cx="13807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81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727448" y="5029200"/>
            <a:ext cx="13807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positions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400800" y="4160520"/>
            <a:ext cx="16002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1" name="Shape 21"/>
          <p:cNvSpPr/>
          <p:nvPr/>
        </p:nvSpPr>
        <p:spPr>
          <a:xfrm>
            <a:off x="6400800" y="4160520"/>
            <a:ext cx="16002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510528" y="4297680"/>
            <a:ext cx="1380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BENCH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510528" y="4599431"/>
            <a:ext cx="13807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97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510528" y="5029200"/>
            <a:ext cx="13807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matched resources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183879" y="4160520"/>
            <a:ext cx="16002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6" name="Shape 26"/>
          <p:cNvSpPr/>
          <p:nvPr/>
        </p:nvSpPr>
        <p:spPr>
          <a:xfrm>
            <a:off x="8183879" y="4160520"/>
            <a:ext cx="16002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8293607" y="4297680"/>
            <a:ext cx="138074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ACTIVE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293607" y="4599431"/>
            <a:ext cx="13807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101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93607" y="5029200"/>
            <a:ext cx="13807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requisitions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617720" y="5577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000">
                <a:solidFill>
                  <a:srgbClr val="CBD5E1"/>
                </a:solidFill>
                <a:latin typeface="Aptos"/>
              </a:rPr>
              <a:t>Latest TA snapshot: 2026-06-23 | MSD month: 2026-05-01 | Bench week: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2926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0F766E"/>
                </a:solidFill>
                <a:latin typeface="Aptos"/>
              </a:rPr>
              <a:t>WHY TALENTIQ EXISTS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56692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The company problem: demand and supply move faster than spreadsheets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014984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Aptos"/>
              </a:rPr>
              <a:t>TalentIQ turns weekly operational data into a shared staffing cockpit.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875520" y="411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1700" b="1">
                <a:solidFill>
                  <a:srgbClr val="0F766E"/>
                </a:solidFill>
                <a:latin typeface="Aptos"/>
              </a:rPr>
              <a:t>TalentIQ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40080" y="1691640"/>
            <a:ext cx="324612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7" name="Text 7"/>
          <p:cNvSpPr txBox="1"/>
          <p:nvPr/>
        </p:nvSpPr>
        <p:spPr>
          <a:xfrm>
            <a:off x="841247" y="192024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600" b="1">
                <a:solidFill>
                  <a:srgbClr val="0F172A"/>
                </a:solidFill>
                <a:latin typeface="Aptos"/>
              </a:rPr>
              <a:t>Fragmented inputs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41247" y="24231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334155"/>
                </a:solidFill>
                <a:latin typeface="Aptos"/>
              </a:rPr>
              <a:t>- TA requisitions, MSD allocations, and bench IDs live in separate files.</a:t>
            </a:r>
          </a:p>
          <a:p>
            <a:pPr algn="l"/>
            <a:r>
              <a:rPr lang="en-US" sz="1100">
                <a:solidFill>
                  <a:srgbClr val="334155"/>
                </a:solidFill>
                <a:latin typeface="Aptos"/>
              </a:rPr>
              <a:t>- Leaders spend time reconciling rather than deciding.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89120" y="1691640"/>
            <a:ext cx="324612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590288" y="192024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600" b="1">
                <a:solidFill>
                  <a:srgbClr val="0F172A"/>
                </a:solidFill>
                <a:latin typeface="Aptos"/>
              </a:rPr>
              <a:t>Hidden demand risk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590288" y="24231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334155"/>
                </a:solidFill>
                <a:latin typeface="Aptos"/>
              </a:rPr>
              <a:t>- Aging openings, onshore/offshore split, and client concentration are hard to read quickly.</a:t>
            </a:r>
          </a:p>
          <a:p>
            <a:pPr algn="l"/>
            <a:r>
              <a:rPr lang="en-US" sz="1100">
                <a:solidFill>
                  <a:srgbClr val="334155"/>
                </a:solidFill>
                <a:latin typeface="Aptos"/>
              </a:rPr>
              <a:t>- Leakage and delayed starts need earlier visibility.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138159" y="1691640"/>
            <a:ext cx="324612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339327" y="192024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600" b="1">
                <a:solidFill>
                  <a:srgbClr val="0F172A"/>
                </a:solidFill>
                <a:latin typeface="Aptos"/>
              </a:rPr>
              <a:t>Slow resource matching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339327" y="24231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334155"/>
                </a:solidFill>
                <a:latin typeface="Aptos"/>
              </a:rPr>
              <a:t>- Skill, grade, shore, tenure, and project history are matched manually.</a:t>
            </a:r>
          </a:p>
          <a:p>
            <a:pPr algn="l"/>
            <a:r>
              <a:rPr lang="en-US" sz="1100">
                <a:solidFill>
                  <a:srgbClr val="334155"/>
                </a:solidFill>
                <a:latin typeface="Aptos"/>
              </a:rPr>
              <a:t>- Good internal candidates can be missed while new hiring continues.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14400" y="4709160"/>
            <a:ext cx="10149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2300" b="1">
                <a:solidFill>
                  <a:srgbClr val="0F766E"/>
                </a:solidFill>
                <a:latin typeface="Aptos"/>
              </a:rPr>
              <a:t>TalentIQ provides the operating layer between recruiting demand and available delivery capacity.</a:t>
            </a:r>
          </a:p>
        </p:txBody>
      </p:sp>
      <p:sp>
        <p:nvSpPr>
          <p:cNvPr id="16" name="Shape 16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02920" y="6510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>
                <a:solidFill>
                  <a:srgbClr val="64748B"/>
                </a:solidFill>
                <a:latin typeface="Aptos"/>
              </a:rPr>
              <a:t>TalentIQ dashboard showcase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789920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2926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0F766E"/>
                </a:solidFill>
                <a:latin typeface="Aptos"/>
              </a:rPr>
              <a:t>DASHBOARD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56692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Executive view of recruiting health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014984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Aptos"/>
              </a:rPr>
              <a:t>Latest snapshot turns raw TA data into KPIs, aging signals, client demand, and shore split.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875520" y="411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1700" b="1">
                <a:solidFill>
                  <a:srgbClr val="0F766E"/>
                </a:solidFill>
                <a:latin typeface="Aptos"/>
              </a:rPr>
              <a:t>TalentIQ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48640" y="1417320"/>
            <a:ext cx="1965960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7" name="Shape 7"/>
          <p:cNvSpPr/>
          <p:nvPr/>
        </p:nvSpPr>
        <p:spPr>
          <a:xfrm>
            <a:off x="548640" y="1417320"/>
            <a:ext cx="19659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58368" y="1554480"/>
            <a:ext cx="17465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ACTIVE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58368" y="1856232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101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2286000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reqs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816352" y="1417320"/>
            <a:ext cx="1965960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2" name="Shape 12"/>
          <p:cNvSpPr/>
          <p:nvPr/>
        </p:nvSpPr>
        <p:spPr>
          <a:xfrm>
            <a:off x="2816352" y="1417320"/>
            <a:ext cx="19659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2926080" y="1554480"/>
            <a:ext cx="17465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OPEN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926080" y="1856232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81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926080" y="2286000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positions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084064" y="1417320"/>
            <a:ext cx="1965960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7" name="Shape 17"/>
          <p:cNvSpPr/>
          <p:nvPr/>
        </p:nvSpPr>
        <p:spPr>
          <a:xfrm>
            <a:off x="5084064" y="1417320"/>
            <a:ext cx="196596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5193792" y="1554480"/>
            <a:ext cx="17465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OFFERED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193792" y="1856232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20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193792" y="2286000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in offer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351775" y="1417320"/>
            <a:ext cx="1965960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2" name="Shape 22"/>
          <p:cNvSpPr/>
          <p:nvPr/>
        </p:nvSpPr>
        <p:spPr>
          <a:xfrm>
            <a:off x="7351775" y="1417320"/>
            <a:ext cx="1965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7461503" y="1554480"/>
            <a:ext cx="17465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NEW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7461503" y="1856232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11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461503" y="2286000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&lt;= 10 days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9619488" y="1417320"/>
            <a:ext cx="1965960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7" name="Shape 27"/>
          <p:cNvSpPr/>
          <p:nvPr/>
        </p:nvSpPr>
        <p:spPr>
          <a:xfrm>
            <a:off x="9619488" y="1417320"/>
            <a:ext cx="196596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729215" y="1554480"/>
            <a:ext cx="17465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AVG AGE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9729215" y="1856232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51.1d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9729215" y="2286000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active reqs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58368" y="278892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500" b="1">
                <a:solidFill>
                  <a:srgbClr val="0F172A"/>
                </a:solidFill>
                <a:latin typeface="Aptos"/>
              </a:rPr>
              <a:t>Top client demand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40080" y="3154680"/>
            <a:ext cx="1234440" cy="481584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334155"/>
                </a:solidFill>
                <a:latin typeface="Aptos"/>
              </a:rPr>
              <a:t>PNC Bank</a:t>
            </a:r>
          </a:p>
        </p:txBody>
      </p:sp>
      <p:sp>
        <p:nvSpPr>
          <p:cNvPr id="33" name="Shape 33"/>
          <p:cNvSpPr/>
          <p:nvPr/>
        </p:nvSpPr>
        <p:spPr>
          <a:xfrm>
            <a:off x="1965960" y="3236976"/>
            <a:ext cx="2880360" cy="31699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1965960" y="3236976"/>
            <a:ext cx="2880360" cy="31699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4965192" y="3154680"/>
            <a:ext cx="347472" cy="481584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tIns="80000" rIns="80000" bIns="80000">
            <a:normAutofit/>
          </a:bodyPr>
          <a:lstStyle/>
          <a:p>
            <a:pPr algn="r"/>
            <a:r>
              <a:rPr lang="en-US" sz="900" b="1">
                <a:solidFill>
                  <a:srgbClr val="334155"/>
                </a:solidFill>
                <a:latin typeface="Aptos"/>
              </a:rPr>
              <a:t>20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40080" y="3736848"/>
            <a:ext cx="1234440" cy="481584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334155"/>
                </a:solidFill>
                <a:latin typeface="Aptos"/>
              </a:rPr>
              <a:t>LPL</a:t>
            </a:r>
          </a:p>
        </p:txBody>
      </p:sp>
      <p:sp>
        <p:nvSpPr>
          <p:cNvPr id="37" name="Shape 37"/>
          <p:cNvSpPr/>
          <p:nvPr/>
        </p:nvSpPr>
        <p:spPr>
          <a:xfrm>
            <a:off x="1965960" y="3819144"/>
            <a:ext cx="2880360" cy="31699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8" name="Shape 38"/>
          <p:cNvSpPr/>
          <p:nvPr/>
        </p:nvSpPr>
        <p:spPr>
          <a:xfrm>
            <a:off x="1965960" y="3819144"/>
            <a:ext cx="1872234" cy="31699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4965192" y="3736848"/>
            <a:ext cx="347472" cy="481584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tIns="80000" rIns="80000" bIns="80000">
            <a:normAutofit/>
          </a:bodyPr>
          <a:lstStyle/>
          <a:p>
            <a:pPr algn="r"/>
            <a:r>
              <a:rPr lang="en-US" sz="900" b="1">
                <a:solidFill>
                  <a:srgbClr val="334155"/>
                </a:solidFill>
                <a:latin typeface="Aptos"/>
              </a:rPr>
              <a:t>13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40080" y="4319016"/>
            <a:ext cx="1234440" cy="481584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334155"/>
                </a:solidFill>
                <a:latin typeface="Aptos"/>
              </a:rPr>
              <a:t>Genentech</a:t>
            </a:r>
          </a:p>
        </p:txBody>
      </p:sp>
      <p:sp>
        <p:nvSpPr>
          <p:cNvPr id="41" name="Shape 41"/>
          <p:cNvSpPr/>
          <p:nvPr/>
        </p:nvSpPr>
        <p:spPr>
          <a:xfrm>
            <a:off x="1965960" y="4401312"/>
            <a:ext cx="2880360" cy="31699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42" name="Shape 42"/>
          <p:cNvSpPr/>
          <p:nvPr/>
        </p:nvSpPr>
        <p:spPr>
          <a:xfrm>
            <a:off x="1965960" y="4401312"/>
            <a:ext cx="1728216" cy="31699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4965192" y="4319016"/>
            <a:ext cx="347472" cy="481584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tIns="80000" rIns="80000" bIns="80000">
            <a:normAutofit/>
          </a:bodyPr>
          <a:lstStyle/>
          <a:p>
            <a:pPr algn="r"/>
            <a:r>
              <a:rPr lang="en-US" sz="900" b="1">
                <a:solidFill>
                  <a:srgbClr val="334155"/>
                </a:solidFill>
                <a:latin typeface="Aptos"/>
              </a:rPr>
              <a:t>12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5760720" y="2788920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500" b="1">
                <a:solidFill>
                  <a:srgbClr val="0F172A"/>
                </a:solidFill>
                <a:latin typeface="Aptos"/>
              </a:rPr>
              <a:t>Aging pipeline</a:t>
            </a:r>
          </a:p>
        </p:txBody>
      </p:sp>
      <p:sp>
        <p:nvSpPr>
          <p:cNvPr id="45" name="Shape 45"/>
          <p:cNvSpPr/>
          <p:nvPr/>
        </p:nvSpPr>
        <p:spPr>
          <a:xfrm>
            <a:off x="5760720" y="3246120"/>
            <a:ext cx="201168" cy="347472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5760720" y="3657600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800">
                <a:solidFill>
                  <a:srgbClr val="475569"/>
                </a:solidFill>
                <a:latin typeface="Aptos"/>
              </a:rPr>
              <a:t>Pre-appr.</a:t>
            </a:r>
          </a:p>
          <a:p>
            <a:pPr algn="ctr"/>
            <a:r>
              <a:rPr lang="en-US" sz="80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47" name="Shape 47"/>
          <p:cNvSpPr/>
          <p:nvPr/>
        </p:nvSpPr>
        <p:spPr>
          <a:xfrm>
            <a:off x="5961888" y="3246120"/>
            <a:ext cx="2531801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48" name="Text 48"/>
          <p:cNvSpPr txBox="1"/>
          <p:nvPr/>
        </p:nvSpPr>
        <p:spPr>
          <a:xfrm>
            <a:off x="5961888" y="3657600"/>
            <a:ext cx="2531801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800">
                <a:solidFill>
                  <a:srgbClr val="475569"/>
                </a:solidFill>
                <a:latin typeface="Aptos"/>
              </a:rPr>
              <a:t>1-30 d</a:t>
            </a:r>
          </a:p>
          <a:p>
            <a:pPr algn="ctr"/>
            <a:r>
              <a:rPr lang="en-US" sz="800">
                <a:solidFill>
                  <a:srgbClr val="475569"/>
                </a:solidFill>
                <a:latin typeface="Aptos"/>
              </a:rPr>
              <a:t>47</a:t>
            </a:r>
          </a:p>
        </p:txBody>
      </p:sp>
      <p:sp>
        <p:nvSpPr>
          <p:cNvPr id="49" name="Shape 49"/>
          <p:cNvSpPr/>
          <p:nvPr/>
        </p:nvSpPr>
        <p:spPr>
          <a:xfrm>
            <a:off x="8493689" y="3246120"/>
            <a:ext cx="1238966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sp>
      <p:sp>
        <p:nvSpPr>
          <p:cNvPr id="50" name="Text 50"/>
          <p:cNvSpPr txBox="1"/>
          <p:nvPr/>
        </p:nvSpPr>
        <p:spPr>
          <a:xfrm>
            <a:off x="8493689" y="3657600"/>
            <a:ext cx="1238966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800">
                <a:solidFill>
                  <a:srgbClr val="475569"/>
                </a:solidFill>
                <a:latin typeface="Aptos"/>
              </a:rPr>
              <a:t>31-60 d</a:t>
            </a:r>
          </a:p>
          <a:p>
            <a:pPr algn="ctr"/>
            <a:r>
              <a:rPr lang="en-US" sz="800">
                <a:solidFill>
                  <a:srgbClr val="475569"/>
                </a:solidFill>
                <a:latin typeface="Aptos"/>
              </a:rPr>
              <a:t>23</a:t>
            </a:r>
          </a:p>
        </p:txBody>
      </p:sp>
      <p:sp>
        <p:nvSpPr>
          <p:cNvPr id="51" name="Shape 51"/>
          <p:cNvSpPr/>
          <p:nvPr/>
        </p:nvSpPr>
        <p:spPr>
          <a:xfrm>
            <a:off x="9732656" y="3246120"/>
            <a:ext cx="484813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9732656" y="3657600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800">
                <a:solidFill>
                  <a:srgbClr val="475569"/>
                </a:solidFill>
                <a:latin typeface="Aptos"/>
              </a:rPr>
              <a:t>61-90 d</a:t>
            </a:r>
          </a:p>
          <a:p>
            <a:pPr algn="ctr"/>
            <a:r>
              <a:rPr lang="en-US" sz="80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sp>
        <p:nvSpPr>
          <p:cNvPr id="53" name="Shape 53"/>
          <p:cNvSpPr/>
          <p:nvPr/>
        </p:nvSpPr>
        <p:spPr>
          <a:xfrm>
            <a:off x="10217469" y="3246120"/>
            <a:ext cx="107736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54" name="Text 54"/>
          <p:cNvSpPr txBox="1"/>
          <p:nvPr/>
        </p:nvSpPr>
        <p:spPr>
          <a:xfrm>
            <a:off x="10217469" y="3657600"/>
            <a:ext cx="1077362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800">
                <a:solidFill>
                  <a:srgbClr val="475569"/>
                </a:solidFill>
                <a:latin typeface="Aptos"/>
              </a:rPr>
              <a:t>91+ d</a:t>
            </a:r>
          </a:p>
          <a:p>
            <a:pPr algn="ctr"/>
            <a:r>
              <a:rPr lang="en-US" sz="800">
                <a:solidFill>
                  <a:srgbClr val="475569"/>
                </a:solidFill>
                <a:latin typeface="Aptos"/>
              </a:rPr>
              <a:t>20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5760720" y="4389120"/>
            <a:ext cx="530352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l"/>
            <a:r>
              <a:rPr lang="en-US" sz="1200" b="1">
                <a:solidFill>
                  <a:srgbClr val="334155"/>
                </a:solidFill>
                <a:latin typeface="Aptos"/>
              </a:rPr>
              <a:t>Open split: Offshore 37 / Onshore 44 | Offered split: Offshore 8 / Onshore 12</a:t>
            </a:r>
          </a:p>
        </p:txBody>
      </p:sp>
      <p:sp>
        <p:nvSpPr>
          <p:cNvPr id="56" name="Shape 56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7" name="Text 57"/>
          <p:cNvSpPr txBox="1"/>
          <p:nvPr/>
        </p:nvSpPr>
        <p:spPr>
          <a:xfrm>
            <a:off x="502920" y="6510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>
                <a:solidFill>
                  <a:srgbClr val="64748B"/>
                </a:solidFill>
                <a:latin typeface="Aptos"/>
              </a:rPr>
              <a:t>TalentIQ dashboard showcase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10789920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2926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0F766E"/>
                </a:solidFill>
                <a:latin typeface="Aptos"/>
              </a:rPr>
              <a:t>DATA GOVERNANCE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56692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Controlled weekly intake keeps the dashboard credible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014984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Aptos"/>
              </a:rPr>
              <a:t>Uploads are period-tagged and the backend keeps history while the UI reads the latest snapshot.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875520" y="411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1700" b="1">
                <a:solidFill>
                  <a:srgbClr val="0F766E"/>
                </a:solidFill>
                <a:latin typeface="Aptos"/>
              </a:rPr>
              <a:t>TalentIQ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1600200"/>
            <a:ext cx="1874519" cy="786384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TA data
exact date</a:t>
            </a:r>
          </a:p>
        </p:txBody>
      </p:sp>
      <p:sp>
        <p:nvSpPr>
          <p:cNvPr id="7" name="Shape 7"/>
          <p:cNvSpPr/>
          <p:nvPr/>
        </p:nvSpPr>
        <p:spPr>
          <a:xfrm>
            <a:off x="2606039" y="1984248"/>
            <a:ext cx="20116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2688335" y="186537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Aptos"/>
              </a:rPr>
              <a:t>&gt;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2852927" y="1600200"/>
            <a:ext cx="1874519" cy="786384"/>
          </a:xfrm>
          <a:prstGeom prst="round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MSD allocation
month</a:t>
            </a:r>
          </a:p>
        </p:txBody>
      </p:sp>
      <p:sp>
        <p:nvSpPr>
          <p:cNvPr id="10" name="Shape 10"/>
          <p:cNvSpPr/>
          <p:nvPr/>
        </p:nvSpPr>
        <p:spPr>
          <a:xfrm>
            <a:off x="4773168" y="1984248"/>
            <a:ext cx="20116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4855464" y="186537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Aptos"/>
              </a:rPr>
              <a:t>&gt;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20055" y="1600200"/>
            <a:ext cx="1874519" cy="786384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Bench IDs
ISO week</a:t>
            </a:r>
          </a:p>
        </p:txBody>
      </p:sp>
      <p:sp>
        <p:nvSpPr>
          <p:cNvPr id="13" name="Shape 13"/>
          <p:cNvSpPr/>
          <p:nvPr/>
        </p:nvSpPr>
        <p:spPr>
          <a:xfrm>
            <a:off x="6940295" y="1984248"/>
            <a:ext cx="20116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7022592" y="186537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Aptos"/>
              </a:rPr>
              <a:t>&gt;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87183" y="1600200"/>
            <a:ext cx="1874519" cy="786384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PostgreSQL
snapshots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31520" y="2788920"/>
            <a:ext cx="48463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41248" y="2880360"/>
            <a:ext cx="4626864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Duplicate-period guardrails prevent accidental overwrite.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Replace flow is explicit when a period already exists.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Upload modal shows already-loaded periods before submission.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All historical snapshots are retained for audit and trend analysis.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989320" y="2788920"/>
            <a:ext cx="502920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099048" y="2880360"/>
            <a:ext cx="4809744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Stored requisition rows: 3595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Stored MSD allocation rows: 15269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Stored bench ID rows: 180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Installer creates database tables and installs dependencies for local transfer.</a:t>
            </a:r>
          </a:p>
        </p:txBody>
      </p:sp>
      <p:sp>
        <p:nvSpPr>
          <p:cNvPr id="20" name="Shape 20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502920" y="6510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>
                <a:solidFill>
                  <a:srgbClr val="64748B"/>
                </a:solidFill>
                <a:latin typeface="Aptos"/>
              </a:rPr>
              <a:t>TalentIQ dashboard showcase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789920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2926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0F766E"/>
                </a:solidFill>
                <a:latin typeface="Aptos"/>
              </a:rPr>
              <a:t>RECRUITMENT ANALYTICS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56692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What the dashboard solves for Talent Acquisition and leadership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014984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Aptos"/>
              </a:rPr>
              <a:t>The dashboard converts requisition records into operational signals for follow-up.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875520" y="411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1700" b="1">
                <a:solidFill>
                  <a:srgbClr val="0F766E"/>
                </a:solidFill>
                <a:latin typeface="Aptos"/>
              </a:rPr>
              <a:t>TalentIQ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40080" y="1463040"/>
            <a:ext cx="50749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7" name="Text 7"/>
          <p:cNvSpPr txBox="1"/>
          <p:nvPr/>
        </p:nvSpPr>
        <p:spPr>
          <a:xfrm>
            <a:off x="804671" y="1581912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 b="1">
                <a:solidFill>
                  <a:srgbClr val="0F766E"/>
                </a:solidFill>
                <a:latin typeface="Aptos"/>
              </a:rPr>
              <a:t>Open and Offered tracking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04671" y="1865376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Measures active demand and offer-stage conversion by latest TA snapshot.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172200" y="1463040"/>
            <a:ext cx="50749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336792" y="1581912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 b="1">
                <a:solidFill>
                  <a:srgbClr val="0F766E"/>
                </a:solidFill>
                <a:latin typeface="Aptos"/>
              </a:rPr>
              <a:t>Aging management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336792" y="1865376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Buckets requisitions into pre-approved, 1-30, 31-60, 61-90, and 91+ day risk bands.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40080" y="2633472"/>
            <a:ext cx="50749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04671" y="2752344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 b="1">
                <a:solidFill>
                  <a:srgbClr val="0F766E"/>
                </a:solidFill>
                <a:latin typeface="Aptos"/>
              </a:rPr>
              <a:t>Client concentration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04671" y="3035808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Shows which client accounts are driving demand and require staffing focus.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172200" y="2633472"/>
            <a:ext cx="50749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336792" y="2752344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 b="1">
                <a:solidFill>
                  <a:srgbClr val="0F766E"/>
                </a:solidFill>
                <a:latin typeface="Aptos"/>
              </a:rPr>
              <a:t>Onshore/offshore split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336792" y="3035808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Separates demand by location model so matching uses the right delivery pool.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40080" y="3803904"/>
            <a:ext cx="50749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04671" y="3922776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 b="1">
                <a:solidFill>
                  <a:srgbClr val="0F766E"/>
                </a:solidFill>
                <a:latin typeface="Aptos"/>
              </a:rPr>
              <a:t>Leakage visibility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04671" y="4206240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Estimates daily and cumulative revenue exposure from delayed fulfillment.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172200" y="3803904"/>
            <a:ext cx="50749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336792" y="3922776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 b="1">
                <a:solidFill>
                  <a:srgbClr val="0F766E"/>
                </a:solidFill>
                <a:latin typeface="Aptos"/>
              </a:rPr>
              <a:t>Grade distribution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336792" y="4206240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000">
                <a:solidFill>
                  <a:srgbClr val="475569"/>
                </a:solidFill>
                <a:latin typeface="Aptos"/>
              </a:rPr>
              <a:t>Surfaces level mix for open positions to align hiring and bench redeployment.</a:t>
            </a:r>
          </a:p>
        </p:txBody>
      </p:sp>
      <p:sp>
        <p:nvSpPr>
          <p:cNvPr id="24" name="Shape 24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02920" y="6510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>
                <a:solidFill>
                  <a:srgbClr val="64748B"/>
                </a:solidFill>
                <a:latin typeface="Aptos"/>
              </a:rPr>
              <a:t>TalentIQ dashboard showcase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0789920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2926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0F766E"/>
                </a:solidFill>
                <a:latin typeface="Aptos"/>
              </a:rPr>
              <a:t>SKILL DEMAND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56692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Open positions become match-ready demand records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014984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Aptos"/>
              </a:rPr>
              <a:t>TalentIQ extracts role, client, priority, grade, skills, age, location, and LOB/vertical from TA data.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875520" y="411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1700" b="1">
                <a:solidFill>
                  <a:srgbClr val="0F766E"/>
                </a:solidFill>
                <a:latin typeface="Aptos"/>
              </a:rPr>
              <a:t>TalentIQ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141732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417320"/>
            <a:ext cx="20574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795528" y="1554480"/>
            <a:ext cx="183794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MATCH-READY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95528" y="1856232"/>
            <a:ext cx="1837943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81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95528" y="2286000"/>
            <a:ext cx="1837943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open positions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971800" y="141732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2" name="Shape 12"/>
          <p:cNvSpPr/>
          <p:nvPr/>
        </p:nvSpPr>
        <p:spPr>
          <a:xfrm>
            <a:off x="2971800" y="1417320"/>
            <a:ext cx="2057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3081528" y="1554480"/>
            <a:ext cx="183794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SKILLS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081528" y="1856232"/>
            <a:ext cx="1837943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Parsed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081528" y="2286000"/>
            <a:ext cx="1837943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Primary + L3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257800" y="141732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7" name="Shape 17"/>
          <p:cNvSpPr/>
          <p:nvPr/>
        </p:nvSpPr>
        <p:spPr>
          <a:xfrm>
            <a:off x="5257800" y="1417320"/>
            <a:ext cx="20574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5367528" y="1554480"/>
            <a:ext cx="183794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PRIORITY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367528" y="1856232"/>
            <a:ext cx="1837943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Aging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367528" y="2286000"/>
            <a:ext cx="1837943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risk signal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543800" y="141732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2" name="Shape 22"/>
          <p:cNvSpPr/>
          <p:nvPr/>
        </p:nvSpPr>
        <p:spPr>
          <a:xfrm>
            <a:off x="7543800" y="1417320"/>
            <a:ext cx="20574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7653527" y="1554480"/>
            <a:ext cx="183794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GRADE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7653527" y="1856232"/>
            <a:ext cx="1837943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+/- 2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653527" y="2286000"/>
            <a:ext cx="1837943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compatibility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777240" y="2971800"/>
            <a:ext cx="484632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86968" y="3063240"/>
            <a:ext cx="4626864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Only Open requisitions enter the skill mapping workflow.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Skills are normalized from primary skill and L3 skill fields.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Country data becomes onshore/offshore demand context.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Priority can use criticality or aging-based fallback.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989320" y="2971800"/>
            <a:ext cx="4754880" cy="18288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099048" y="3063240"/>
            <a:ext cx="4535424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400">
                <a:solidFill>
                  <a:srgbClr val="334155"/>
                </a:solidFill>
                <a:latin typeface="Aptos"/>
              </a:rPr>
              <a:t>- Company context: demand is no longer just a row in a workbook.</a:t>
            </a:r>
          </a:p>
          <a:p>
            <a:pPr algn="l"/>
            <a:r>
              <a:rPr lang="en-US" sz="1400">
                <a:solidFill>
                  <a:srgbClr val="334155"/>
                </a:solidFill>
                <a:latin typeface="Aptos"/>
              </a:rPr>
              <a:t>- Each position becomes a staffing object that can be matched, filtered, exported, and explained.</a:t>
            </a:r>
          </a:p>
        </p:txBody>
      </p:sp>
      <p:sp>
        <p:nvSpPr>
          <p:cNvPr id="30" name="Shape 30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502920" y="6510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>
                <a:solidFill>
                  <a:srgbClr val="64748B"/>
                </a:solidFill>
                <a:latin typeface="Aptos"/>
              </a:rPr>
              <a:t>TalentIQ dashboard showcase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0789920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2926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0F766E"/>
                </a:solidFill>
                <a:latin typeface="Aptos"/>
              </a:rPr>
              <a:t>BENCH RESOURCES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56692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A governed inventory of internal supply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014984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Aptos"/>
              </a:rPr>
              <a:t>Combines bench employee IDs with latest MSD allocation data and manual corrections.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875520" y="411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1700" b="1">
                <a:solidFill>
                  <a:srgbClr val="0F766E"/>
                </a:solidFill>
                <a:latin typeface="Aptos"/>
              </a:rPr>
              <a:t>TalentIQ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41732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7" name="Shape 7"/>
          <p:cNvSpPr/>
          <p:nvPr/>
        </p:nvSpPr>
        <p:spPr>
          <a:xfrm>
            <a:off x="658368" y="1417320"/>
            <a:ext cx="20574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768096" y="1554480"/>
            <a:ext cx="183794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MATCHED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68096" y="1856232"/>
            <a:ext cx="1837943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97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68096" y="2286000"/>
            <a:ext cx="1837943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bench resources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971800" y="141732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2" name="Shape 12"/>
          <p:cNvSpPr/>
          <p:nvPr/>
        </p:nvSpPr>
        <p:spPr>
          <a:xfrm>
            <a:off x="2971800" y="1417320"/>
            <a:ext cx="20574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3081528" y="1554480"/>
            <a:ext cx="183794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SOURCES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081528" y="1856232"/>
            <a:ext cx="1837943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Upload + manual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081528" y="2286000"/>
            <a:ext cx="1837943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tracked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285232" y="141732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7" name="Shape 17"/>
          <p:cNvSpPr/>
          <p:nvPr/>
        </p:nvSpPr>
        <p:spPr>
          <a:xfrm>
            <a:off x="5285232" y="1417320"/>
            <a:ext cx="2057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5394960" y="1554480"/>
            <a:ext cx="183794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SNAPSHOT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394960" y="1856232"/>
            <a:ext cx="1837943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Effective date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394960" y="2286000"/>
            <a:ext cx="1837943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controlled updates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589520" y="141732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2" name="Shape 22"/>
          <p:cNvSpPr/>
          <p:nvPr/>
        </p:nvSpPr>
        <p:spPr>
          <a:xfrm>
            <a:off x="7589520" y="1417320"/>
            <a:ext cx="20574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7699248" y="1554480"/>
            <a:ext cx="1837943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 b="1">
                <a:solidFill>
                  <a:srgbClr val="64748B"/>
                </a:solidFill>
                <a:latin typeface="Aptos"/>
              </a:rPr>
              <a:t>EXPORT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7699248" y="1856232"/>
            <a:ext cx="1837943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Excel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699248" y="2286000"/>
            <a:ext cx="1837943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</a:rPr>
              <a:t>operational handoff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749808" y="2788920"/>
            <a:ext cx="480060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59536" y="2880360"/>
            <a:ext cx="4581144" cy="1920239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  <a:latin typeface="Aptos"/>
              </a:rPr>
              <a:t>- Manual ID entry supports resources that should be included even when a file is incomplete.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</a:rPr>
              <a:t>- Inventory marks source as Manual or File Upload.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</a:rPr>
              <a:t>- Effective-date logic prevents editing old snapshots by mistake.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</a:rPr>
              <a:t>- Columns, filters, search, delete, and export support daily operational use.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080760" y="281635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600" b="1">
                <a:solidFill>
                  <a:srgbClr val="0F172A"/>
                </a:solidFill>
                <a:latin typeface="Aptos"/>
              </a:rPr>
              <a:t>Manual entry redirect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080760" y="3273552"/>
            <a:ext cx="4572000" cy="100584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99F6E4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500" b="1">
                <a:solidFill>
                  <a:srgbClr val="0F766E"/>
                </a:solidFill>
                <a:latin typeface="Aptos"/>
              </a:rPr>
              <a:t>The upload flow now includes a button that takes users directly to Skill Mapping &gt; Bench Resources and opens the manual employee ID section.</a:t>
            </a:r>
          </a:p>
        </p:txBody>
      </p:sp>
      <p:sp>
        <p:nvSpPr>
          <p:cNvPr id="30" name="Shape 30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502920" y="6510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>
                <a:solidFill>
                  <a:srgbClr val="64748B"/>
                </a:solidFill>
                <a:latin typeface="Aptos"/>
              </a:rPr>
              <a:t>TalentIQ dashboard showcase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0789920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2926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0F766E"/>
                </a:solidFill>
                <a:latin typeface="Aptos"/>
              </a:rPr>
              <a:t>SKILL MAPPING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56692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How TalentIQ ranks internal candidates for open positions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014984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Aptos"/>
              </a:rPr>
              <a:t>The match engine combines skill fit, shore alignment, grade compatibility, and bench context.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875520" y="411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1700" b="1">
                <a:solidFill>
                  <a:srgbClr val="0F766E"/>
                </a:solidFill>
                <a:latin typeface="Aptos"/>
              </a:rPr>
              <a:t>TalentIQ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508760"/>
            <a:ext cx="1874519" cy="786384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Position
requirements</a:t>
            </a:r>
          </a:p>
        </p:txBody>
      </p:sp>
      <p:sp>
        <p:nvSpPr>
          <p:cNvPr id="7" name="Shape 7"/>
          <p:cNvSpPr/>
          <p:nvPr/>
        </p:nvSpPr>
        <p:spPr>
          <a:xfrm>
            <a:off x="2578607" y="1892807"/>
            <a:ext cx="20116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2660903" y="177393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Aptos"/>
              </a:rPr>
              <a:t>&gt;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2825496" y="1508760"/>
            <a:ext cx="1874519" cy="786384"/>
          </a:xfrm>
          <a:prstGeom prst="round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Same-shore
resource pool</a:t>
            </a:r>
          </a:p>
        </p:txBody>
      </p:sp>
      <p:sp>
        <p:nvSpPr>
          <p:cNvPr id="10" name="Shape 10"/>
          <p:cNvSpPr/>
          <p:nvPr/>
        </p:nvSpPr>
        <p:spPr>
          <a:xfrm>
            <a:off x="4745736" y="1892807"/>
            <a:ext cx="20116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4828032" y="177393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Aptos"/>
              </a:rPr>
              <a:t>&gt;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992623" y="1508760"/>
            <a:ext cx="1874519" cy="786384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Skill + grade
scoring</a:t>
            </a:r>
          </a:p>
        </p:txBody>
      </p:sp>
      <p:sp>
        <p:nvSpPr>
          <p:cNvPr id="13" name="Shape 13"/>
          <p:cNvSpPr/>
          <p:nvPr/>
        </p:nvSpPr>
        <p:spPr>
          <a:xfrm>
            <a:off x="6912863" y="1892807"/>
            <a:ext cx="20116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995159" y="177393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Aptos"/>
              </a:rPr>
              <a:t>&gt;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59751" y="1508760"/>
            <a:ext cx="1874519" cy="786384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Ranked
candidates</a:t>
            </a:r>
          </a:p>
        </p:txBody>
      </p:sp>
      <p:sp>
        <p:nvSpPr>
          <p:cNvPr id="16" name="Shape 16"/>
          <p:cNvSpPr/>
          <p:nvPr/>
        </p:nvSpPr>
        <p:spPr>
          <a:xfrm>
            <a:off x="9079992" y="1892807"/>
            <a:ext cx="20116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9162288" y="177393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Aptos"/>
              </a:rPr>
              <a:t>&gt;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9326880" y="1508760"/>
            <a:ext cx="1874519" cy="786384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Excel / AI
follow-up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77240" y="2788920"/>
            <a:ext cx="49377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86968" y="2880360"/>
            <a:ext cx="4718304" cy="19659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  <a:latin typeface="Aptos"/>
              </a:rPr>
              <a:t>- Fuzzy skill comparison handles exact and partial matches.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</a:rPr>
              <a:t>- Confidence bands: High &gt;= 80, Medium 60-79, Low 40-59.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</a:rPr>
              <a:t>- Grade compatibility allows nearby levels and avoids over-filtering unknown grades.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</a:rPr>
              <a:t>- Resource Matches and Confidence Overview support both individual and portfolio review.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989320" y="2788920"/>
            <a:ext cx="4937760" cy="214884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099048" y="2880360"/>
            <a:ext cx="4718304" cy="19659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400">
                <a:solidFill>
                  <a:srgbClr val="334155"/>
                </a:solidFill>
                <a:latin typeface="Aptos"/>
              </a:rPr>
              <a:t>- Company value: redeploy bench resources sooner.</a:t>
            </a:r>
          </a:p>
          <a:p>
            <a:pPr algn="l"/>
            <a:r>
              <a:rPr lang="en-US" sz="1400">
                <a:solidFill>
                  <a:srgbClr val="334155"/>
                </a:solidFill>
                <a:latin typeface="Aptos"/>
              </a:rPr>
              <a:t>- Reduce dependency on manual spreadsheet matching.</a:t>
            </a:r>
          </a:p>
          <a:p>
            <a:pPr algn="l"/>
            <a:r>
              <a:rPr lang="en-US" sz="1400">
                <a:solidFill>
                  <a:srgbClr val="334155"/>
                </a:solidFill>
                <a:latin typeface="Aptos"/>
              </a:rPr>
              <a:t>- Focus recruiters and delivery leaders on the highest-confidence staffing options.</a:t>
            </a:r>
          </a:p>
        </p:txBody>
      </p:sp>
      <p:sp>
        <p:nvSpPr>
          <p:cNvPr id="23" name="Shape 23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502920" y="6510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>
                <a:solidFill>
                  <a:srgbClr val="64748B"/>
                </a:solidFill>
                <a:latin typeface="Aptos"/>
              </a:rPr>
              <a:t>TalentIQ dashboard showcase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0789920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2926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0F766E"/>
                </a:solidFill>
                <a:latin typeface="Aptos"/>
              </a:rPr>
              <a:t>AI ASSISTANCE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56692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LLM matching adds reasoning on top of structured scoring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014984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Aptos"/>
              </a:rPr>
              <a:t>TalentIQ can call OpenAI for explainable recommendations when an API key is configured.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875520" y="411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1700" b="1">
                <a:solidFill>
                  <a:srgbClr val="0F766E"/>
                </a:solidFill>
                <a:latin typeface="Aptos"/>
              </a:rPr>
              <a:t>TalentIQ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508760"/>
            <a:ext cx="29718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700" b="1">
                <a:solidFill>
                  <a:srgbClr val="0F172A"/>
                </a:solidFill>
                <a:latin typeface="Aptos"/>
              </a:rPr>
              <a:t>Structured AI output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32688" y="1993392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Summary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Recommendation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Top matches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Resource-level rationale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526280" y="1508760"/>
            <a:ext cx="29718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700" b="1">
                <a:solidFill>
                  <a:srgbClr val="0F172A"/>
                </a:solidFill>
                <a:latin typeface="Aptos"/>
              </a:rPr>
              <a:t>Governed calls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681728" y="1993392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Uses candidate caps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Skips no-skill positions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Estimates call volume and cost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Returns JSON only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275320" y="1508760"/>
            <a:ext cx="29718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700" b="1">
                <a:solidFill>
                  <a:srgbClr val="0F172A"/>
                </a:solidFill>
                <a:latin typeface="Aptos"/>
              </a:rPr>
              <a:t>Cached results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430768" y="1993392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Cache key by position and resources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Avoids repeated spend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Preserves repeatable output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Supports rematch when inputs change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60120" y="4892040"/>
            <a:ext cx="102412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900" b="1">
                <a:solidFill>
                  <a:srgbClr val="0F766E"/>
                </a:solidFill>
                <a:latin typeface="Aptos"/>
              </a:rPr>
              <a:t>Business use: use deterministic scoring for scale, then AI for nuanced shortlists and decision support.</a:t>
            </a:r>
          </a:p>
        </p:txBody>
      </p:sp>
      <p:sp>
        <p:nvSpPr>
          <p:cNvPr id="13" name="Shape 13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502920" y="6510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>
                <a:solidFill>
                  <a:srgbClr val="64748B"/>
                </a:solidFill>
                <a:latin typeface="Aptos"/>
              </a:rPr>
              <a:t>TalentIQ dashboard showcase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789920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2926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0F766E"/>
                </a:solidFill>
                <a:latin typeface="Aptos"/>
              </a:rPr>
              <a:t>RESOURCE SEARCH AND HISTORY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56692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A faster way to answer staffing follow-up questions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014984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Aptos"/>
              </a:rPr>
              <a:t>TalentIQ exposes a searchable resource view and employee project history across uploaded MSD months.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875520" y="411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1700" b="1">
                <a:solidFill>
                  <a:srgbClr val="0F766E"/>
                </a:solidFill>
                <a:latin typeface="Aptos"/>
              </a:rPr>
              <a:t>TalentIQ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508760"/>
            <a:ext cx="47548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7" name="Text 7"/>
          <p:cNvSpPr txBox="1"/>
          <p:nvPr/>
        </p:nvSpPr>
        <p:spPr>
          <a:xfrm>
            <a:off x="886968" y="1600200"/>
            <a:ext cx="4535424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Search all MSD resources by employee, skill, designation, client, or project.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Reconstruct one employee's project history across uploaded months.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See current allocation details, skills, grade, LOB, vertical, and location.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989320" y="1508760"/>
            <a:ext cx="4754880" cy="201168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9" name="Text 9"/>
          <p:cNvSpPr txBox="1"/>
          <p:nvPr/>
        </p:nvSpPr>
        <p:spPr>
          <a:xfrm>
            <a:off x="6099048" y="1600200"/>
            <a:ext cx="4535424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For account teams: confirm whether a resource has relevant client or domain experience.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For resource managers: validate availability and recent project movement.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For leaders: reduce one-off data pulls from operations teams.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97280" y="434340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2100" b="1">
                <a:solidFill>
                  <a:srgbClr val="0F172A"/>
                </a:solidFill>
                <a:latin typeface="Aptos"/>
              </a:rPr>
              <a:t>The result is a practical workflow: search, inspect history, shortlist, match, export.</a:t>
            </a:r>
          </a:p>
        </p:txBody>
      </p:sp>
      <p:sp>
        <p:nvSpPr>
          <p:cNvPr id="11" name="Shape 11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02920" y="6510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>
                <a:solidFill>
                  <a:srgbClr val="64748B"/>
                </a:solidFill>
                <a:latin typeface="Aptos"/>
              </a:rPr>
              <a:t>TalentIQ dashboard showcase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789920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2926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0F766E"/>
                </a:solidFill>
                <a:latin typeface="Aptos"/>
              </a:rPr>
              <a:t>ARCHITECTURE AND PORTABILITY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56692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Designed as a local company application with a reliable setup path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014984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Aptos"/>
              </a:rPr>
              <a:t>The start and setup scripts make the project transferable to another Windows machine with prerequisites installed.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875520" y="411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1700" b="1">
                <a:solidFill>
                  <a:srgbClr val="0F766E"/>
                </a:solidFill>
                <a:latin typeface="Aptos"/>
              </a:rPr>
              <a:t>TalentIQ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1463040"/>
            <a:ext cx="1874519" cy="786384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React UI
localhost:5173</a:t>
            </a:r>
          </a:p>
        </p:txBody>
      </p:sp>
      <p:sp>
        <p:nvSpPr>
          <p:cNvPr id="7" name="Shape 7"/>
          <p:cNvSpPr/>
          <p:nvPr/>
        </p:nvSpPr>
        <p:spPr>
          <a:xfrm>
            <a:off x="2834639" y="1847088"/>
            <a:ext cx="20116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2916935" y="172821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Aptos"/>
              </a:rPr>
              <a:t>&gt;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081527" y="1463040"/>
            <a:ext cx="1874519" cy="786384"/>
          </a:xfrm>
          <a:prstGeom prst="round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FastAPI
localhost:8000</a:t>
            </a:r>
          </a:p>
        </p:txBody>
      </p:sp>
      <p:sp>
        <p:nvSpPr>
          <p:cNvPr id="10" name="Shape 10"/>
          <p:cNvSpPr/>
          <p:nvPr/>
        </p:nvSpPr>
        <p:spPr>
          <a:xfrm>
            <a:off x="5001768" y="1847088"/>
            <a:ext cx="20116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084064" y="172821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Aptos"/>
              </a:rPr>
              <a:t>&gt;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248655" y="1463040"/>
            <a:ext cx="1874519" cy="786384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PostgreSQL
talentiq DB</a:t>
            </a:r>
          </a:p>
        </p:txBody>
      </p:sp>
      <p:sp>
        <p:nvSpPr>
          <p:cNvPr id="13" name="Shape 13"/>
          <p:cNvSpPr/>
          <p:nvPr/>
        </p:nvSpPr>
        <p:spPr>
          <a:xfrm>
            <a:off x="7168895" y="1847088"/>
            <a:ext cx="20116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7251192" y="172821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Aptos"/>
              </a:rPr>
              <a:t>&gt;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415783" y="1463040"/>
            <a:ext cx="1874519" cy="786384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Aptos"/>
              </a:rPr>
              <a:t>Excel exports
Power users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68680" y="2834640"/>
            <a:ext cx="475488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78407" y="2926080"/>
            <a:ext cx="4535424" cy="178308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  <a:latin typeface="Aptos"/>
              </a:rPr>
              <a:t>- setup.bat configures DATABASE_URL and initializes tables.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</a:rPr>
              <a:t>- start.bat creates the Python venv, installs backend dependencies, installs npm packages, and launches services.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</a:rPr>
              <a:t>- Tables: requisitions, msd_allocations, bench_employee_ids, ai_match_cache.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989320" y="2834640"/>
            <a:ext cx="4754880" cy="196596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099048" y="2926080"/>
            <a:ext cx="4535424" cy="178308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Company benefit: low-friction local rollout.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Data remains in PostgreSQL with explicit snapshot dates.</a:t>
            </a:r>
          </a:p>
          <a:p>
            <a:pPr algn="l"/>
            <a:r>
              <a:rPr lang="en-US" sz="1300">
                <a:solidFill>
                  <a:srgbClr val="334155"/>
                </a:solidFill>
                <a:latin typeface="Aptos"/>
              </a:rPr>
              <a:t>- API boundary allows future hosting, authentication, or enterprise integration.</a:t>
            </a:r>
          </a:p>
        </p:txBody>
      </p:sp>
      <p:sp>
        <p:nvSpPr>
          <p:cNvPr id="20" name="Shape 20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502920" y="6510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>
                <a:solidFill>
                  <a:srgbClr val="64748B"/>
                </a:solidFill>
                <a:latin typeface="Aptos"/>
              </a:rPr>
              <a:t>TalentIQ dashboard showcase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789920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2926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0F766E"/>
                </a:solidFill>
                <a:latin typeface="Aptos"/>
              </a:rPr>
              <a:t>BUSINESS IMPACT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566928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2500" b="1">
                <a:solidFill>
                  <a:srgbClr val="0F172A"/>
                </a:solidFill>
                <a:latin typeface="Aptos"/>
              </a:rPr>
              <a:t>What TalentIQ changes for the company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014984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  <a:latin typeface="Aptos"/>
              </a:rPr>
              <a:t>A shared operating rhythm for demand, supply, matching, and follow-through.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875520" y="411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1700" b="1">
                <a:solidFill>
                  <a:srgbClr val="0F766E"/>
                </a:solidFill>
                <a:latin typeface="Aptos"/>
              </a:rPr>
              <a:t>TalentIQ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44752"/>
            <a:ext cx="47548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7" name="Text 7"/>
          <p:cNvSpPr txBox="1"/>
          <p:nvPr/>
        </p:nvSpPr>
        <p:spPr>
          <a:xfrm>
            <a:off x="941832" y="157276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500" b="1">
                <a:solidFill>
                  <a:srgbClr val="0F766E"/>
                </a:solidFill>
                <a:latin typeface="Aptos"/>
              </a:rPr>
              <a:t>Leadership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2350008" y="156362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Portfolio visibility into open demand, aging, client concentration, and staffing risk.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126479" y="1444752"/>
            <a:ext cx="47548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291071" y="157276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500" b="1">
                <a:solidFill>
                  <a:srgbClr val="0F766E"/>
                </a:solidFill>
                <a:latin typeface="Aptos"/>
              </a:rPr>
              <a:t>Talent Acquisition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699248" y="156362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Cleaner upload governance, faster pipeline review, and LOB-filtered requisition intake.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77240" y="2770632"/>
            <a:ext cx="47548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41832" y="289864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500" b="1">
                <a:solidFill>
                  <a:srgbClr val="0F766E"/>
                </a:solidFill>
                <a:latin typeface="Aptos"/>
              </a:rPr>
              <a:t>Delivery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350008" y="288950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Better internal candidate discovery before escalating external hiring.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126479" y="2770632"/>
            <a:ext cx="47548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1E293B"/>
                </a:solidFill>
                <a:latin typeface="Aptos"/>
              </a:rPr>
              <a:t/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291071" y="289864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500" b="1">
                <a:solidFill>
                  <a:srgbClr val="0F766E"/>
                </a:solidFill>
                <a:latin typeface="Aptos"/>
              </a:rPr>
              <a:t>Resource Management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699248" y="288950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  <a:latin typeface="Aptos"/>
              </a:rPr>
              <a:t>Managed bench inventory, manual corrections, exports, and effective-date controls.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914400" y="4617720"/>
            <a:ext cx="10287000" cy="50292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99F6E4"/>
            </a:solidFill>
          </a:ln>
        </p:spPr>
        <p:txBody>
          <a:bodyPr wrap="square" anchor="t" lIns="80000" tIns="80000" rIns="80000" bIns="80000">
            <a:normAutofit/>
          </a:bodyPr>
          <a:lstStyle/>
          <a:p>
            <a:pPr algn="ctr"/>
            <a:r>
              <a:rPr lang="en-US" sz="1800" b="1">
                <a:solidFill>
                  <a:srgbClr val="0F172A"/>
                </a:solidFill>
                <a:latin typeface="Aptos"/>
              </a:rPr>
              <a:t>Recommended demo storyline: Upload data -&gt; review dashboard -&gt; inspect bench resources -&gt; run skill mapping -&gt; use AI shortlist -&gt; export actions.</a:t>
            </a:r>
          </a:p>
        </p:txBody>
      </p:sp>
      <p:sp>
        <p:nvSpPr>
          <p:cNvPr id="19" name="Shape 19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02920" y="6510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800">
                <a:solidFill>
                  <a:srgbClr val="64748B"/>
                </a:solidFill>
                <a:latin typeface="Aptos"/>
              </a:rPr>
              <a:t>TalentIQ dashboard showcase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0789920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77240" y="8046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900" b="1">
                <a:solidFill>
                  <a:srgbClr val="99F6E4"/>
                </a:solidFill>
                <a:latin typeface="Aptos"/>
              </a:rPr>
              <a:t>CLOSING MESSAGE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49808" y="1298448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3100" b="1">
                <a:solidFill>
                  <a:srgbClr val="FFFFFF"/>
                </a:solidFill>
                <a:latin typeface="Aptos"/>
              </a:rPr>
              <a:t>TalentIQ is a staffing decision system, not just a dashboard.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86384" y="2240280"/>
            <a:ext cx="7223760" cy="694944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800">
                <a:solidFill>
                  <a:srgbClr val="CBD5E1"/>
                </a:solidFill>
                <a:latin typeface="Aptos"/>
              </a:rPr>
              <a:t>It connects company demand, available internal supply, skill evidence, and governed operations into one repeatable workflow.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347472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tIns="80000" rIns="80000" bIns="80000">
            <a:normAutofit/>
          </a:bodyPr>
          <a:lstStyle/>
          <a:p>
            <a:pPr algn="l"/>
            <a:r>
              <a:rPr lang="en-US" sz="1500">
                <a:solidFill>
                  <a:srgbClr val="334155"/>
                </a:solidFill>
                <a:latin typeface="Aptos"/>
              </a:rPr>
              <a:t>- Reduce manual reconciliation.</a:t>
            </a:r>
          </a:p>
          <a:p>
            <a:pPr algn="l"/>
            <a:r>
              <a:rPr lang="en-US" sz="1500">
                <a:solidFill>
                  <a:srgbClr val="334155"/>
                </a:solidFill>
                <a:latin typeface="Aptos"/>
              </a:rPr>
              <a:t>- Prioritize aging and high-value demand.</a:t>
            </a:r>
          </a:p>
          <a:p>
            <a:pPr algn="l"/>
            <a:r>
              <a:rPr lang="en-US" sz="1500">
                <a:solidFill>
                  <a:srgbClr val="334155"/>
                </a:solidFill>
                <a:latin typeface="Aptos"/>
              </a:rPr>
              <a:t>- Redeploy internal talent faster.</a:t>
            </a:r>
          </a:p>
          <a:p>
            <a:pPr algn="l"/>
            <a:r>
              <a:rPr lang="en-US" sz="1500">
                <a:solidFill>
                  <a:srgbClr val="334155"/>
                </a:solidFill>
                <a:latin typeface="Aptos"/>
              </a:rPr>
              <a:t>- Create a defensible weekly staffing rhythm.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200" y="3703320"/>
            <a:ext cx="2926080" cy="960120"/>
          </a:xfrm>
          <a:prstGeom prst="roundRect">
            <a:avLst/>
          </a:prstGeom>
          <a:solidFill>
            <a:srgbClr val="123D3A"/>
          </a:solidFill>
          <a:ln w="9525">
            <a:solidFill>
              <a:srgbClr val="2DD4BF"/>
            </a:solidFill>
          </a:ln>
        </p:spPr>
        <p:txBody>
          <a:bodyPr wrap="square" anchor="mid" lIns="80000" tIns="80000" rIns="80000" bIns="80000">
            <a:normAutofit/>
          </a:bodyPr>
          <a:lstStyle/>
          <a:p>
            <a:pPr algn="ctr"/>
            <a:r>
              <a:rPr lang="en-US" sz="1800" b="1">
                <a:solidFill>
                  <a:srgbClr val="CCFBF1"/>
                </a:solidFill>
                <a:latin typeface="Aptos"/>
              </a:rPr>
              <a:t>Next step:
Demo with live data and confirm rollout owners.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entIQ Theme">
  <a:themeElements>
    <a:clrScheme name="TalentIQ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0D9488"/>
      </a:accent1>
      <a:accent2>
        <a:srgbClr val="2563EB"/>
      </a:accent2>
      <a:accent3>
        <a:srgbClr val="16A34A"/>
      </a:accent3>
      <a:accent4>
        <a:srgbClr val="D97706"/>
      </a:accent4>
      <a:accent5>
        <a:srgbClr val="DC2626"/>
      </a:accent5>
      <a:accent6>
        <a:srgbClr val="7C3AED"/>
      </a:accent6>
      <a:hlink>
        <a:srgbClr val="0D9488"/>
      </a:hlink>
      <a:folHlink>
        <a:srgbClr val="7C3AED"/>
      </a:folHlink>
    </a:clrScheme>
    <a:fontScheme name="TalentIQ Fonts">
      <a:majorFont>
        <a:latin typeface="Aptos Display"/>
      </a:majorFont>
      <a:minorFont>
        <a:latin typeface="Aptos"/>
      </a:minorFont>
    </a:fontScheme>
    <a:fmtScheme name="TalentIQ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13</Slides>
  <Notes>0</Notes>
  <HiddenSlides>0</HiddenSlides>
  <Company>TalentIQ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TalentIQ Dashboard Company Showcase</dc:title>
  <dc:subject>Editable PowerPoint deck for TalentIQ</dc:subject>
  <dc:creator>Codex</dc:creator>
  <cp:lastModifiedBy>Codex</cp:lastModifiedBy>
  <dcterms:created xsi:type="dcterms:W3CDTF">2026-06-29T10:53:30Z</dcterms:created>
  <dcterms:modified xsi:type="dcterms:W3CDTF">2026-06-29T10:53:30Z</dcterms:modified>
</cp:coreProperties>
</file>